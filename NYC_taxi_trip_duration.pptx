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1"/>
  </p:sldMasterIdLst>
  <p:notesMasterIdLst>
    <p:notesMasterId r:id="rId40"/>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1" r:id="rId20"/>
    <p:sldId id="276" r:id="rId21"/>
    <p:sldId id="272"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90" r:id="rId35"/>
    <p:sldId id="288" r:id="rId36"/>
    <p:sldId id="291" r:id="rId37"/>
    <p:sldId id="292" r:id="rId38"/>
    <p:sldId id="29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3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87327" autoAdjust="0"/>
  </p:normalViewPr>
  <p:slideViewPr>
    <p:cSldViewPr snapToGrid="0">
      <p:cViewPr varScale="1">
        <p:scale>
          <a:sx n="75" d="100"/>
          <a:sy n="75" d="100"/>
        </p:scale>
        <p:origin x="90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541F2D-3A50-4764-990F-524E5883A86D}" type="datetimeFigureOut">
              <a:rPr lang="en-US" smtClean="0"/>
              <a:t>3/17/2020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522C2-2F91-46B6-B8EE-EB94B4A41EBC}" type="slidenum">
              <a:rPr lang="en-US" smtClean="0"/>
              <a:t>‹#›</a:t>
            </a:fld>
            <a:endParaRPr lang="en-US"/>
          </a:p>
        </p:txBody>
      </p:sp>
    </p:spTree>
    <p:extLst>
      <p:ext uri="{BB962C8B-B14F-4D97-AF65-F5344CB8AC3E}">
        <p14:creationId xmlns:p14="http://schemas.microsoft.com/office/powerpoint/2010/main" val="4213577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6522C2-2F91-46B6-B8EE-EB94B4A41EBC}" type="slidenum">
              <a:rPr lang="en-US" smtClean="0"/>
              <a:t>16</a:t>
            </a:fld>
            <a:endParaRPr lang="en-US"/>
          </a:p>
        </p:txBody>
      </p:sp>
    </p:spTree>
    <p:extLst>
      <p:ext uri="{BB962C8B-B14F-4D97-AF65-F5344CB8AC3E}">
        <p14:creationId xmlns:p14="http://schemas.microsoft.com/office/powerpoint/2010/main" val="595341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6522C2-2F91-46B6-B8EE-EB94B4A41EBC}" type="slidenum">
              <a:rPr lang="en-US" smtClean="0"/>
              <a:t>17</a:t>
            </a:fld>
            <a:endParaRPr lang="en-US"/>
          </a:p>
        </p:txBody>
      </p:sp>
    </p:spTree>
    <p:extLst>
      <p:ext uri="{BB962C8B-B14F-4D97-AF65-F5344CB8AC3E}">
        <p14:creationId xmlns:p14="http://schemas.microsoft.com/office/powerpoint/2010/main" val="2010929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6522C2-2F91-46B6-B8EE-EB94B4A41EBC}" type="slidenum">
              <a:rPr lang="en-US" smtClean="0"/>
              <a:t>23</a:t>
            </a:fld>
            <a:endParaRPr lang="en-US"/>
          </a:p>
        </p:txBody>
      </p:sp>
    </p:spTree>
    <p:extLst>
      <p:ext uri="{BB962C8B-B14F-4D97-AF65-F5344CB8AC3E}">
        <p14:creationId xmlns:p14="http://schemas.microsoft.com/office/powerpoint/2010/main" val="2695265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6522C2-2F91-46B6-B8EE-EB94B4A41EBC}" type="slidenum">
              <a:rPr lang="en-US" smtClean="0"/>
              <a:t>32</a:t>
            </a:fld>
            <a:endParaRPr lang="en-US"/>
          </a:p>
        </p:txBody>
      </p:sp>
    </p:spTree>
    <p:extLst>
      <p:ext uri="{BB962C8B-B14F-4D97-AF65-F5344CB8AC3E}">
        <p14:creationId xmlns:p14="http://schemas.microsoft.com/office/powerpoint/2010/main" val="4152669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C34F4D-7C68-4A17-B34F-1E419088854E}"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E8CA69-9513-444D-A0B9-304336E72E9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1801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C34F4D-7C68-4A17-B34F-1E419088854E}"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E8CA69-9513-444D-A0B9-304336E72E9D}" type="slidenum">
              <a:rPr lang="en-US" smtClean="0"/>
              <a:t>‹#›</a:t>
            </a:fld>
            <a:endParaRPr lang="en-US"/>
          </a:p>
        </p:txBody>
      </p:sp>
    </p:spTree>
    <p:extLst>
      <p:ext uri="{BB962C8B-B14F-4D97-AF65-F5344CB8AC3E}">
        <p14:creationId xmlns:p14="http://schemas.microsoft.com/office/powerpoint/2010/main" val="409217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C34F4D-7C68-4A17-B34F-1E419088854E}"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E8CA69-9513-444D-A0B9-304336E72E9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5854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C34F4D-7C68-4A17-B34F-1E419088854E}" type="datetimeFigureOut">
              <a:rPr lang="en-US" smtClean="0"/>
              <a:t>3/17/2020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E8CA69-9513-444D-A0B9-304336E72E9D}" type="slidenum">
              <a:rPr lang="en-US" smtClean="0"/>
              <a:t>‹#›</a:t>
            </a:fld>
            <a:endParaRPr lang="en-US"/>
          </a:p>
        </p:txBody>
      </p:sp>
    </p:spTree>
    <p:extLst>
      <p:ext uri="{BB962C8B-B14F-4D97-AF65-F5344CB8AC3E}">
        <p14:creationId xmlns:p14="http://schemas.microsoft.com/office/powerpoint/2010/main" val="1137917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C34F4D-7C68-4A17-B34F-1E419088854E}" type="datetimeFigureOut">
              <a:rPr lang="en-US" smtClean="0"/>
              <a:t>3/17/2020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E8CA69-9513-444D-A0B9-304336E72E9D}" type="slidenum">
              <a:rPr lang="en-US" smtClean="0"/>
              <a:t>‹#›</a:t>
            </a:fld>
            <a:endParaRPr lang="en-US"/>
          </a:p>
        </p:txBody>
      </p:sp>
    </p:spTree>
    <p:extLst>
      <p:ext uri="{BB962C8B-B14F-4D97-AF65-F5344CB8AC3E}">
        <p14:creationId xmlns:p14="http://schemas.microsoft.com/office/powerpoint/2010/main" val="3817474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C34F4D-7C68-4A17-B34F-1E419088854E}" type="datetimeFigureOut">
              <a:rPr lang="en-US" smtClean="0"/>
              <a:t>3/17/2020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E8CA69-9513-444D-A0B9-304336E72E9D}" type="slidenum">
              <a:rPr lang="en-US" smtClean="0"/>
              <a:t>‹#›</a:t>
            </a:fld>
            <a:endParaRPr lang="en-US"/>
          </a:p>
        </p:txBody>
      </p:sp>
    </p:spTree>
    <p:extLst>
      <p:ext uri="{BB962C8B-B14F-4D97-AF65-F5344CB8AC3E}">
        <p14:creationId xmlns:p14="http://schemas.microsoft.com/office/powerpoint/2010/main" val="2654100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7C34F4D-7C68-4A17-B34F-1E419088854E}" type="datetimeFigureOut">
              <a:rPr lang="en-US" smtClean="0"/>
              <a:t>3/17/2020</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8E8CA69-9513-444D-A0B9-304336E72E9D}" type="slidenum">
              <a:rPr lang="en-US" smtClean="0"/>
              <a:t>‹#›</a:t>
            </a:fld>
            <a:endParaRPr lang="en-US"/>
          </a:p>
        </p:txBody>
      </p:sp>
    </p:spTree>
    <p:extLst>
      <p:ext uri="{BB962C8B-B14F-4D97-AF65-F5344CB8AC3E}">
        <p14:creationId xmlns:p14="http://schemas.microsoft.com/office/powerpoint/2010/main" val="855399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7C34F4D-7C68-4A17-B34F-1E419088854E}" type="datetimeFigureOut">
              <a:rPr lang="en-US" smtClean="0"/>
              <a:t>3/17/2020</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8E8CA69-9513-444D-A0B9-304336E72E9D}" type="slidenum">
              <a:rPr lang="en-US" smtClean="0"/>
              <a:t>‹#›</a:t>
            </a:fld>
            <a:endParaRPr lang="en-US"/>
          </a:p>
        </p:txBody>
      </p:sp>
    </p:spTree>
    <p:extLst>
      <p:ext uri="{BB962C8B-B14F-4D97-AF65-F5344CB8AC3E}">
        <p14:creationId xmlns:p14="http://schemas.microsoft.com/office/powerpoint/2010/main" val="664835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C34F4D-7C68-4A17-B34F-1E419088854E}" type="datetimeFigureOut">
              <a:rPr lang="en-US" smtClean="0"/>
              <a:t>3/17/2020</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8E8CA69-9513-444D-A0B9-304336E72E9D}" type="slidenum">
              <a:rPr lang="en-US" smtClean="0"/>
              <a:t>‹#›</a:t>
            </a:fld>
            <a:endParaRPr lang="en-US"/>
          </a:p>
        </p:txBody>
      </p:sp>
    </p:spTree>
    <p:extLst>
      <p:ext uri="{BB962C8B-B14F-4D97-AF65-F5344CB8AC3E}">
        <p14:creationId xmlns:p14="http://schemas.microsoft.com/office/powerpoint/2010/main" val="244586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C34F4D-7C68-4A17-B34F-1E419088854E}"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E8CA69-9513-444D-A0B9-304336E72E9D}" type="slidenum">
              <a:rPr lang="en-US" smtClean="0"/>
              <a:t>‹#›</a:t>
            </a:fld>
            <a:endParaRPr lang="en-US"/>
          </a:p>
        </p:txBody>
      </p:sp>
    </p:spTree>
    <p:extLst>
      <p:ext uri="{BB962C8B-B14F-4D97-AF65-F5344CB8AC3E}">
        <p14:creationId xmlns:p14="http://schemas.microsoft.com/office/powerpoint/2010/main" val="2301097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C34F4D-7C68-4A17-B34F-1E419088854E}" type="datetimeFigureOut">
              <a:rPr lang="en-US" smtClean="0"/>
              <a:t>3/17/2020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E8CA69-9513-444D-A0B9-304336E72E9D}" type="slidenum">
              <a:rPr lang="en-US" smtClean="0"/>
              <a:t>‹#›</a:t>
            </a:fld>
            <a:endParaRPr lang="en-US"/>
          </a:p>
        </p:txBody>
      </p:sp>
    </p:spTree>
    <p:extLst>
      <p:ext uri="{BB962C8B-B14F-4D97-AF65-F5344CB8AC3E}">
        <p14:creationId xmlns:p14="http://schemas.microsoft.com/office/powerpoint/2010/main" val="1468131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7C34F4D-7C68-4A17-B34F-1E419088854E}" type="datetimeFigureOut">
              <a:rPr lang="en-US" smtClean="0"/>
              <a:t>3/17/2020</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8E8CA69-9513-444D-A0B9-304336E72E9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0717855"/>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pratha19/NYC_taxi_trip_durati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ev.socrata.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github.com/pratha19/NYC_taxi_trip_duration/blob/master/README.md" TargetMode="External"/><Relationship Id="rId1" Type="http://schemas.openxmlformats.org/officeDocument/2006/relationships/slideLayout" Target="../slideLayouts/slideLayout2.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nyc yellow cab many">
            <a:extLst>
              <a:ext uri="{FF2B5EF4-FFF2-40B4-BE49-F238E27FC236}">
                <a16:creationId xmlns:a16="http://schemas.microsoft.com/office/drawing/2014/main" id="{FE163D05-741A-4BF6-A45F-594237CF45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 b="13465"/>
          <a:stretch/>
        </p:blipFill>
        <p:spPr bwMode="auto">
          <a:xfrm>
            <a:off x="2448560" y="596277"/>
            <a:ext cx="7294880" cy="3503436"/>
          </a:xfrm>
          <a:prstGeom prst="rect">
            <a:avLst/>
          </a:prstGeom>
          <a:no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5CA2799-4A89-4822-8F6C-2E99FF332A4C}"/>
              </a:ext>
            </a:extLst>
          </p:cNvPr>
          <p:cNvSpPr>
            <a:spLocks noGrp="1"/>
          </p:cNvSpPr>
          <p:nvPr>
            <p:ph type="ctrTitle"/>
          </p:nvPr>
        </p:nvSpPr>
        <p:spPr>
          <a:xfrm>
            <a:off x="848969" y="4170833"/>
            <a:ext cx="10479431" cy="1447647"/>
          </a:xfrm>
        </p:spPr>
        <p:txBody>
          <a:bodyPr>
            <a:normAutofit/>
          </a:bodyPr>
          <a:lstStyle/>
          <a:p>
            <a:r>
              <a:rPr lang="en-US" sz="4000" b="1" dirty="0">
                <a:solidFill>
                  <a:srgbClr val="3F3F3F"/>
                </a:solidFill>
                <a:latin typeface="Calibri" panose="020F0502020204030204" pitchFamily="34" charset="0"/>
                <a:cs typeface="Calibri" panose="020F0502020204030204" pitchFamily="34" charset="0"/>
              </a:rPr>
              <a:t>NYC TAXI TRIP DURATION PREDICTION (YELLOW TAXI TRIPS, 2016)</a:t>
            </a:r>
          </a:p>
        </p:txBody>
      </p:sp>
    </p:spTree>
    <p:extLst>
      <p:ext uri="{BB962C8B-B14F-4D97-AF65-F5344CB8AC3E}">
        <p14:creationId xmlns:p14="http://schemas.microsoft.com/office/powerpoint/2010/main" val="1212427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488EA-8117-40A3-BC8D-AFF1932DA03A}"/>
              </a:ext>
            </a:extLst>
          </p:cNvPr>
          <p:cNvSpPr>
            <a:spLocks noGrp="1"/>
          </p:cNvSpPr>
          <p:nvPr>
            <p:ph type="title"/>
          </p:nvPr>
        </p:nvSpPr>
        <p:spPr>
          <a:xfrm>
            <a:off x="913796" y="139479"/>
            <a:ext cx="10353761" cy="1326321"/>
          </a:xfrm>
        </p:spPr>
        <p:txBody>
          <a:bodyPr/>
          <a:lstStyle/>
          <a:p>
            <a:r>
              <a:rPr lang="en-US" dirty="0">
                <a:solidFill>
                  <a:srgbClr val="3F3F3F"/>
                </a:solidFill>
              </a:rPr>
              <a:t>Topics Covered</a:t>
            </a:r>
          </a:p>
        </p:txBody>
      </p:sp>
      <p:sp>
        <p:nvSpPr>
          <p:cNvPr id="3" name="Content Placeholder 2">
            <a:extLst>
              <a:ext uri="{FF2B5EF4-FFF2-40B4-BE49-F238E27FC236}">
                <a16:creationId xmlns:a16="http://schemas.microsoft.com/office/drawing/2014/main" id="{1446DC9B-BD65-4BCD-80B6-D4E5BBAA82A1}"/>
              </a:ext>
            </a:extLst>
          </p:cNvPr>
          <p:cNvSpPr>
            <a:spLocks noGrp="1"/>
          </p:cNvSpPr>
          <p:nvPr>
            <p:ph idx="1"/>
          </p:nvPr>
        </p:nvSpPr>
        <p:spPr>
          <a:xfrm>
            <a:off x="913795" y="1842064"/>
            <a:ext cx="10353762" cy="3695136"/>
          </a:xfrm>
        </p:spPr>
        <p:txBody>
          <a:bodyPr>
            <a:normAutofit fontScale="92500" lnSpcReduction="10000"/>
          </a:bodyPr>
          <a:lstStyle/>
          <a:p>
            <a:pPr>
              <a:buFont typeface="Wingdings" panose="05000000000000000000" pitchFamily="2" charset="2"/>
              <a:buChar char="q"/>
            </a:pPr>
            <a:r>
              <a:rPr lang="en-US" sz="2400" dirty="0">
                <a:solidFill>
                  <a:srgbClr val="3F3F3F"/>
                </a:solidFill>
                <a:effectLst/>
              </a:rPr>
              <a:t> Data import</a:t>
            </a:r>
          </a:p>
          <a:p>
            <a:pPr>
              <a:buFont typeface="Wingdings" panose="05000000000000000000" pitchFamily="2" charset="2"/>
              <a:buChar char="q"/>
            </a:pPr>
            <a:r>
              <a:rPr lang="en-US" sz="2400" dirty="0">
                <a:solidFill>
                  <a:srgbClr val="3F3F3F"/>
                </a:solidFill>
                <a:effectLst/>
              </a:rPr>
              <a:t> Data cleaning and wrangling</a:t>
            </a:r>
          </a:p>
          <a:p>
            <a:pPr>
              <a:buFont typeface="Wingdings" panose="05000000000000000000" pitchFamily="2" charset="2"/>
              <a:buChar char="q"/>
            </a:pPr>
            <a:r>
              <a:rPr lang="en-US" sz="2400" dirty="0">
                <a:solidFill>
                  <a:srgbClr val="3F3F3F"/>
                </a:solidFill>
                <a:effectLst/>
              </a:rPr>
              <a:t> EDA</a:t>
            </a:r>
          </a:p>
          <a:p>
            <a:pPr>
              <a:buFont typeface="Wingdings" panose="05000000000000000000" pitchFamily="2" charset="2"/>
              <a:buChar char="q"/>
            </a:pPr>
            <a:r>
              <a:rPr lang="en-US" sz="2400" dirty="0">
                <a:solidFill>
                  <a:srgbClr val="3F3F3F"/>
                </a:solidFill>
                <a:effectLst/>
              </a:rPr>
              <a:t> Inference</a:t>
            </a:r>
          </a:p>
          <a:p>
            <a:pPr>
              <a:buFont typeface="Wingdings" panose="05000000000000000000" pitchFamily="2" charset="2"/>
              <a:buChar char="q"/>
            </a:pPr>
            <a:r>
              <a:rPr lang="en-US" sz="2400" dirty="0">
                <a:solidFill>
                  <a:srgbClr val="3F3F3F"/>
                </a:solidFill>
                <a:effectLst/>
              </a:rPr>
              <a:t> Preparing data attributes for modeling</a:t>
            </a:r>
          </a:p>
          <a:p>
            <a:pPr>
              <a:buFont typeface="Wingdings" panose="05000000000000000000" pitchFamily="2" charset="2"/>
              <a:buChar char="q"/>
            </a:pPr>
            <a:r>
              <a:rPr lang="en-US" sz="2400" dirty="0">
                <a:solidFill>
                  <a:srgbClr val="3F3F3F"/>
                </a:solidFill>
                <a:effectLst/>
              </a:rPr>
              <a:t> Building and tuning ML models</a:t>
            </a:r>
          </a:p>
          <a:p>
            <a:pPr>
              <a:buFont typeface="Wingdings" panose="05000000000000000000" pitchFamily="2" charset="2"/>
              <a:buChar char="q"/>
            </a:pPr>
            <a:r>
              <a:rPr lang="en-US" sz="2400" dirty="0">
                <a:solidFill>
                  <a:srgbClr val="3F3F3F"/>
                </a:solidFill>
                <a:effectLst/>
              </a:rPr>
              <a:t> Comparing different models</a:t>
            </a:r>
          </a:p>
          <a:p>
            <a:pPr>
              <a:buFont typeface="Wingdings" panose="05000000000000000000" pitchFamily="2" charset="2"/>
              <a:buChar char="q"/>
            </a:pPr>
            <a:r>
              <a:rPr lang="en-US" sz="2400" dirty="0">
                <a:solidFill>
                  <a:srgbClr val="3F3F3F"/>
                </a:solidFill>
                <a:effectLst/>
              </a:rPr>
              <a:t> Conclusion and future work</a:t>
            </a:r>
          </a:p>
          <a:p>
            <a:endParaRPr lang="en-US" sz="2400" dirty="0">
              <a:solidFill>
                <a:srgbClr val="3F3F3F"/>
              </a:solidFill>
            </a:endParaRPr>
          </a:p>
        </p:txBody>
      </p:sp>
    </p:spTree>
    <p:extLst>
      <p:ext uri="{BB962C8B-B14F-4D97-AF65-F5344CB8AC3E}">
        <p14:creationId xmlns:p14="http://schemas.microsoft.com/office/powerpoint/2010/main" val="454962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0276-54BC-40D1-88FA-81ACC2A0CC34}"/>
              </a:ext>
            </a:extLst>
          </p:cNvPr>
          <p:cNvSpPr>
            <a:spLocks noGrp="1"/>
          </p:cNvSpPr>
          <p:nvPr>
            <p:ph type="title"/>
          </p:nvPr>
        </p:nvSpPr>
        <p:spPr>
          <a:xfrm>
            <a:off x="1097280" y="109232"/>
            <a:ext cx="10058400" cy="1450757"/>
          </a:xfrm>
        </p:spPr>
        <p:txBody>
          <a:bodyPr/>
          <a:lstStyle/>
          <a:p>
            <a:pPr algn="just"/>
            <a:r>
              <a:rPr lang="en-US" dirty="0"/>
              <a:t>Goal </a:t>
            </a:r>
          </a:p>
        </p:txBody>
      </p:sp>
      <p:sp>
        <p:nvSpPr>
          <p:cNvPr id="3" name="Content Placeholder 2">
            <a:extLst>
              <a:ext uri="{FF2B5EF4-FFF2-40B4-BE49-F238E27FC236}">
                <a16:creationId xmlns:a16="http://schemas.microsoft.com/office/drawing/2014/main" id="{7AF90879-F96E-49CC-A317-7DDFB3D65828}"/>
              </a:ext>
            </a:extLst>
          </p:cNvPr>
          <p:cNvSpPr>
            <a:spLocks noGrp="1"/>
          </p:cNvSpPr>
          <p:nvPr>
            <p:ph idx="1"/>
          </p:nvPr>
        </p:nvSpPr>
        <p:spPr/>
        <p:txBody>
          <a:bodyPr>
            <a:normAutofit/>
          </a:bodyPr>
          <a:lstStyle/>
          <a:p>
            <a:pPr>
              <a:buFont typeface="Wingdings" panose="05000000000000000000" pitchFamily="2" charset="2"/>
              <a:buChar char="q"/>
            </a:pPr>
            <a:r>
              <a:rPr lang="en-US" sz="2400" dirty="0"/>
              <a:t> Identify the main factors influencing the daily taxi trips of New Yorkers. </a:t>
            </a:r>
          </a:p>
          <a:p>
            <a:pPr>
              <a:buFont typeface="Wingdings" panose="05000000000000000000" pitchFamily="2" charset="2"/>
              <a:buChar char="q"/>
            </a:pPr>
            <a:r>
              <a:rPr lang="en-US" sz="2400" dirty="0"/>
              <a:t> Build a ML model to predict the taxi trip duration from point A to point B at any given time and day within NYC. </a:t>
            </a:r>
          </a:p>
          <a:p>
            <a:pPr>
              <a:buFont typeface="Wingdings" panose="05000000000000000000" pitchFamily="2" charset="2"/>
              <a:buChar char="q"/>
            </a:pPr>
            <a:r>
              <a:rPr lang="en-US" sz="2400" dirty="0"/>
              <a:t> GitHub link to the EDA and ML notebooks and utility functions can be found </a:t>
            </a:r>
            <a:r>
              <a:rPr lang="en-US" sz="2400" u="sng" dirty="0">
                <a:hlinkClick r:id="rId2"/>
              </a:rPr>
              <a:t>here</a:t>
            </a:r>
            <a:r>
              <a:rPr lang="en-US" sz="2400" u="sng" dirty="0"/>
              <a:t>. </a:t>
            </a:r>
          </a:p>
          <a:p>
            <a:pPr>
              <a:buFont typeface="Wingdings" panose="05000000000000000000" pitchFamily="2" charset="2"/>
              <a:buChar char="q"/>
            </a:pPr>
            <a:r>
              <a:rPr lang="en-US" sz="2400" dirty="0"/>
              <a:t> Policy researchers at the TLC* and NYC can use the project observations and ML models to observe changing traffic trends within the city and make informed decisions regarding transportation planning.</a:t>
            </a:r>
          </a:p>
        </p:txBody>
      </p:sp>
      <p:sp>
        <p:nvSpPr>
          <p:cNvPr id="4" name="TextBox 3">
            <a:extLst>
              <a:ext uri="{FF2B5EF4-FFF2-40B4-BE49-F238E27FC236}">
                <a16:creationId xmlns:a16="http://schemas.microsoft.com/office/drawing/2014/main" id="{65588661-EBFB-4939-BAE9-ECEB1BF0E84F}"/>
              </a:ext>
            </a:extLst>
          </p:cNvPr>
          <p:cNvSpPr txBox="1"/>
          <p:nvPr/>
        </p:nvSpPr>
        <p:spPr>
          <a:xfrm>
            <a:off x="1097280" y="5869094"/>
            <a:ext cx="10058400" cy="369332"/>
          </a:xfrm>
          <a:prstGeom prst="rect">
            <a:avLst/>
          </a:prstGeom>
          <a:noFill/>
        </p:spPr>
        <p:txBody>
          <a:bodyPr wrap="square" rtlCol="0">
            <a:spAutoFit/>
          </a:bodyPr>
          <a:lstStyle/>
          <a:p>
            <a:r>
              <a:rPr lang="en-US" dirty="0"/>
              <a:t>* Taxi and Limousine Commission </a:t>
            </a:r>
          </a:p>
        </p:txBody>
      </p:sp>
    </p:spTree>
    <p:extLst>
      <p:ext uri="{BB962C8B-B14F-4D97-AF65-F5344CB8AC3E}">
        <p14:creationId xmlns:p14="http://schemas.microsoft.com/office/powerpoint/2010/main" val="950529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25">
            <a:extLst>
              <a:ext uri="{FF2B5EF4-FFF2-40B4-BE49-F238E27FC236}">
                <a16:creationId xmlns:a16="http://schemas.microsoft.com/office/drawing/2014/main" id="{AE1AF813-2D2F-4B78-9216-388AF161E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7" name="Rectangle 27">
            <a:extLst>
              <a:ext uri="{FF2B5EF4-FFF2-40B4-BE49-F238E27FC236}">
                <a16:creationId xmlns:a16="http://schemas.microsoft.com/office/drawing/2014/main" id="{C47181D2-95D5-4439-9BDF-14D4FDC7B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Content Placeholder 3" descr="A screenshot of a social media post with text and a black background&#10;&#10;Description automatically generated">
            <a:extLst>
              <a:ext uri="{FF2B5EF4-FFF2-40B4-BE49-F238E27FC236}">
                <a16:creationId xmlns:a16="http://schemas.microsoft.com/office/drawing/2014/main" id="{9CD1FEC8-A320-404D-9759-7C65DDCEF7A0}"/>
              </a:ext>
            </a:extLst>
          </p:cNvPr>
          <p:cNvPicPr>
            <a:picLocks noGrp="1"/>
          </p:cNvPicPr>
          <p:nvPr>
            <p:ph idx="1"/>
          </p:nvPr>
        </p:nvPicPr>
        <p:blipFill rotWithShape="1">
          <a:blip r:embed="rId2"/>
          <a:srcRect b="3434"/>
          <a:stretch/>
        </p:blipFill>
        <p:spPr>
          <a:xfrm>
            <a:off x="20" y="10"/>
            <a:ext cx="12191980" cy="6793982"/>
          </a:xfrm>
          <a:prstGeom prst="rect">
            <a:avLst/>
          </a:prstGeom>
        </p:spPr>
      </p:pic>
    </p:spTree>
    <p:extLst>
      <p:ext uri="{BB962C8B-B14F-4D97-AF65-F5344CB8AC3E}">
        <p14:creationId xmlns:p14="http://schemas.microsoft.com/office/powerpoint/2010/main" val="2469278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AD6C5-13D4-4508-B51A-1227D31F1FA3}"/>
              </a:ext>
            </a:extLst>
          </p:cNvPr>
          <p:cNvSpPr>
            <a:spLocks noGrp="1"/>
          </p:cNvSpPr>
          <p:nvPr>
            <p:ph type="title"/>
          </p:nvPr>
        </p:nvSpPr>
        <p:spPr>
          <a:xfrm>
            <a:off x="1097280" y="0"/>
            <a:ext cx="10058400" cy="1450757"/>
          </a:xfrm>
        </p:spPr>
        <p:txBody>
          <a:bodyPr/>
          <a:lstStyle/>
          <a:p>
            <a:r>
              <a:rPr lang="en-US" dirty="0"/>
              <a:t>NYC taxi trip Data</a:t>
            </a:r>
          </a:p>
        </p:txBody>
      </p:sp>
      <p:sp>
        <p:nvSpPr>
          <p:cNvPr id="3" name="Content Placeholder 2">
            <a:extLst>
              <a:ext uri="{FF2B5EF4-FFF2-40B4-BE49-F238E27FC236}">
                <a16:creationId xmlns:a16="http://schemas.microsoft.com/office/drawing/2014/main" id="{F1BE6F6C-94F8-4D0F-BA02-97795560079F}"/>
              </a:ext>
            </a:extLst>
          </p:cNvPr>
          <p:cNvSpPr>
            <a:spLocks noGrp="1"/>
          </p:cNvSpPr>
          <p:nvPr>
            <p:ph idx="1"/>
          </p:nvPr>
        </p:nvSpPr>
        <p:spPr/>
        <p:txBody>
          <a:bodyPr>
            <a:normAutofit/>
          </a:bodyPr>
          <a:lstStyle/>
          <a:p>
            <a:pPr>
              <a:buFont typeface="Wingdings" panose="05000000000000000000" pitchFamily="2" charset="2"/>
              <a:buChar char="q"/>
            </a:pPr>
            <a:r>
              <a:rPr lang="en-US" sz="2400" dirty="0"/>
              <a:t> Parsed from New York’ city’s website using SQL queries enabled by </a:t>
            </a:r>
            <a:r>
              <a:rPr lang="en-US" sz="2400" u="sng" dirty="0" err="1">
                <a:hlinkClick r:id="rId2"/>
              </a:rPr>
              <a:t>Socrata’s</a:t>
            </a:r>
            <a:r>
              <a:rPr lang="en-US" sz="2400" u="sng" dirty="0">
                <a:hlinkClick r:id="rId2"/>
              </a:rPr>
              <a:t> API</a:t>
            </a:r>
            <a:r>
              <a:rPr lang="en-US" sz="2400" u="sng" dirty="0"/>
              <a:t>.</a:t>
            </a:r>
          </a:p>
          <a:p>
            <a:pPr>
              <a:buFont typeface="Wingdings" panose="05000000000000000000" pitchFamily="2" charset="2"/>
              <a:buChar char="q"/>
            </a:pPr>
            <a:r>
              <a:rPr lang="en-US" sz="2400" dirty="0"/>
              <a:t> 4.2M taxi trips out of 131M total trips in 2016 were extracted </a:t>
            </a:r>
          </a:p>
          <a:p>
            <a:pPr>
              <a:buFont typeface="Wingdings" panose="05000000000000000000" pitchFamily="2" charset="2"/>
              <a:buChar char="q"/>
            </a:pPr>
            <a:r>
              <a:rPr lang="en-US" sz="2400" dirty="0"/>
              <a:t> Only those trips with exact pickup and dropoff geo-coordinates were extracted (only first 6 months of 2016)</a:t>
            </a:r>
          </a:p>
          <a:p>
            <a:pPr>
              <a:buFont typeface="Wingdings" panose="05000000000000000000" pitchFamily="2" charset="2"/>
              <a:buChar char="q"/>
            </a:pPr>
            <a:r>
              <a:rPr lang="en-US" sz="2400" dirty="0"/>
              <a:t> 700,000 trips from each month of January to June, 2016. </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4157845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6745-98F3-4951-8390-CCC469EAE5A9}"/>
              </a:ext>
            </a:extLst>
          </p:cNvPr>
          <p:cNvSpPr>
            <a:spLocks noGrp="1"/>
          </p:cNvSpPr>
          <p:nvPr>
            <p:ph type="title"/>
          </p:nvPr>
        </p:nvSpPr>
        <p:spPr>
          <a:xfrm>
            <a:off x="1097280" y="883921"/>
            <a:ext cx="10058400" cy="1036320"/>
          </a:xfrm>
        </p:spPr>
        <p:txBody>
          <a:bodyPr>
            <a:normAutofit fontScale="90000"/>
          </a:bodyPr>
          <a:lstStyle/>
          <a:p>
            <a:r>
              <a:rPr lang="en-US" dirty="0"/>
              <a:t>Data fields</a:t>
            </a:r>
            <a:br>
              <a:rPr lang="en-US" dirty="0"/>
            </a:br>
            <a:endParaRPr lang="en-US" dirty="0"/>
          </a:p>
        </p:txBody>
      </p:sp>
      <p:sp>
        <p:nvSpPr>
          <p:cNvPr id="3" name="Content Placeholder 2">
            <a:extLst>
              <a:ext uri="{FF2B5EF4-FFF2-40B4-BE49-F238E27FC236}">
                <a16:creationId xmlns:a16="http://schemas.microsoft.com/office/drawing/2014/main" id="{80077273-F3AC-48E1-B703-A26D0C3BAE50}"/>
              </a:ext>
            </a:extLst>
          </p:cNvPr>
          <p:cNvSpPr>
            <a:spLocks noGrp="1"/>
          </p:cNvSpPr>
          <p:nvPr>
            <p:ph idx="1"/>
          </p:nvPr>
        </p:nvSpPr>
        <p:spPr>
          <a:xfrm>
            <a:off x="1097280" y="1845734"/>
            <a:ext cx="10800080" cy="4676986"/>
          </a:xfrm>
        </p:spPr>
        <p:txBody>
          <a:bodyPr>
            <a:normAutofit/>
          </a:bodyPr>
          <a:lstStyle/>
          <a:p>
            <a:pPr>
              <a:buFont typeface="Wingdings" panose="05000000000000000000" pitchFamily="2" charset="2"/>
              <a:buChar char="Ø"/>
            </a:pPr>
            <a:r>
              <a:rPr lang="en-US" sz="1800" dirty="0"/>
              <a:t> </a:t>
            </a:r>
            <a:r>
              <a:rPr lang="en-US" sz="1800" dirty="0" err="1"/>
              <a:t>vendor_id</a:t>
            </a:r>
            <a:r>
              <a:rPr lang="en-US" sz="1800" dirty="0"/>
              <a:t> - a code indicating the provider associated with the trip record</a:t>
            </a:r>
          </a:p>
          <a:p>
            <a:pPr>
              <a:buFont typeface="Wingdings" panose="05000000000000000000" pitchFamily="2" charset="2"/>
              <a:buChar char="Ø"/>
            </a:pPr>
            <a:r>
              <a:rPr lang="en-US" sz="1800" dirty="0"/>
              <a:t> </a:t>
            </a:r>
            <a:r>
              <a:rPr lang="en-US" sz="1800" dirty="0" err="1"/>
              <a:t>pickup_datetime</a:t>
            </a:r>
            <a:r>
              <a:rPr lang="en-US" sz="1800" dirty="0"/>
              <a:t> - date and time when the meter was engaged</a:t>
            </a:r>
          </a:p>
          <a:p>
            <a:pPr>
              <a:buFont typeface="Wingdings" panose="05000000000000000000" pitchFamily="2" charset="2"/>
              <a:buChar char="Ø"/>
            </a:pPr>
            <a:r>
              <a:rPr lang="en-US" sz="1800" dirty="0"/>
              <a:t> </a:t>
            </a:r>
            <a:r>
              <a:rPr lang="en-US" sz="1800" dirty="0" err="1"/>
              <a:t>dropoff_datetime</a:t>
            </a:r>
            <a:r>
              <a:rPr lang="en-US" sz="1800" dirty="0"/>
              <a:t> - date and time when the meter was disengaged</a:t>
            </a:r>
          </a:p>
          <a:p>
            <a:pPr>
              <a:buFont typeface="Wingdings" panose="05000000000000000000" pitchFamily="2" charset="2"/>
              <a:buChar char="Ø"/>
            </a:pPr>
            <a:r>
              <a:rPr lang="en-US" sz="1800" dirty="0"/>
              <a:t> </a:t>
            </a:r>
            <a:r>
              <a:rPr lang="en-US" sz="1800" dirty="0" err="1"/>
              <a:t>passenger_count</a:t>
            </a:r>
            <a:r>
              <a:rPr lang="en-US" sz="1800" dirty="0"/>
              <a:t> - the number of passengers in the vehicle (driver entered value)</a:t>
            </a:r>
          </a:p>
          <a:p>
            <a:pPr>
              <a:buFont typeface="Wingdings" panose="05000000000000000000" pitchFamily="2" charset="2"/>
              <a:buChar char="Ø"/>
            </a:pPr>
            <a:r>
              <a:rPr lang="en-US" sz="1800" dirty="0"/>
              <a:t> </a:t>
            </a:r>
            <a:r>
              <a:rPr lang="en-US" sz="1800" dirty="0" err="1"/>
              <a:t>pickup_longitude</a:t>
            </a:r>
            <a:r>
              <a:rPr lang="en-US" sz="1800" dirty="0"/>
              <a:t> - the longitude where the meter was engaged</a:t>
            </a:r>
          </a:p>
          <a:p>
            <a:pPr>
              <a:buFont typeface="Wingdings" panose="05000000000000000000" pitchFamily="2" charset="2"/>
              <a:buChar char="Ø"/>
            </a:pPr>
            <a:r>
              <a:rPr lang="en-US" sz="1800" dirty="0"/>
              <a:t> pickup_latitude - the latitude where the meter was engaged</a:t>
            </a:r>
          </a:p>
          <a:p>
            <a:pPr>
              <a:buFont typeface="Wingdings" panose="05000000000000000000" pitchFamily="2" charset="2"/>
              <a:buChar char="Ø"/>
            </a:pPr>
            <a:r>
              <a:rPr lang="en-US" sz="1800" dirty="0"/>
              <a:t> dropoff_longitude - the longitude where the meter was disengaged</a:t>
            </a:r>
          </a:p>
          <a:p>
            <a:pPr>
              <a:buFont typeface="Wingdings" panose="05000000000000000000" pitchFamily="2" charset="2"/>
              <a:buChar char="Ø"/>
            </a:pPr>
            <a:r>
              <a:rPr lang="en-US" sz="1800" dirty="0"/>
              <a:t> </a:t>
            </a:r>
            <a:r>
              <a:rPr lang="en-US" sz="1800" dirty="0" err="1"/>
              <a:t>dropoff_latitude</a:t>
            </a:r>
            <a:r>
              <a:rPr lang="en-US" sz="1800" dirty="0"/>
              <a:t> - the latitude where the meter was disengaged</a:t>
            </a:r>
          </a:p>
          <a:p>
            <a:pPr>
              <a:buFont typeface="Wingdings" panose="05000000000000000000" pitchFamily="2" charset="2"/>
              <a:buChar char="Ø"/>
            </a:pPr>
            <a:r>
              <a:rPr lang="en-US" sz="1800" dirty="0"/>
              <a:t> </a:t>
            </a:r>
            <a:r>
              <a:rPr lang="en-US" sz="1800" dirty="0" err="1"/>
              <a:t>store_and_fwd_flag</a:t>
            </a:r>
            <a:r>
              <a:rPr lang="en-US" sz="1800" dirty="0"/>
              <a:t> - Y or N where Y=store in vehicle memory due to bad connection &amp; then forward</a:t>
            </a:r>
          </a:p>
          <a:p>
            <a:pPr>
              <a:buFont typeface="Wingdings" panose="05000000000000000000" pitchFamily="2" charset="2"/>
              <a:buChar char="Ø"/>
            </a:pPr>
            <a:r>
              <a:rPr lang="en-US" sz="1800" dirty="0" err="1"/>
              <a:t>trip_distance</a:t>
            </a:r>
            <a:r>
              <a:rPr lang="en-US" sz="1800" dirty="0"/>
              <a:t> - distance of the trip recorded in miles (was removed to avoid data leakage)</a:t>
            </a:r>
          </a:p>
          <a:p>
            <a:pPr marL="0" indent="0">
              <a:buNone/>
            </a:pPr>
            <a:endParaRPr lang="en-US" sz="1800" dirty="0"/>
          </a:p>
        </p:txBody>
      </p:sp>
    </p:spTree>
    <p:extLst>
      <p:ext uri="{BB962C8B-B14F-4D97-AF65-F5344CB8AC3E}">
        <p14:creationId xmlns:p14="http://schemas.microsoft.com/office/powerpoint/2010/main" val="3168802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6745-98F3-4951-8390-CCC469EAE5A9}"/>
              </a:ext>
            </a:extLst>
          </p:cNvPr>
          <p:cNvSpPr>
            <a:spLocks noGrp="1"/>
          </p:cNvSpPr>
          <p:nvPr>
            <p:ph type="title"/>
          </p:nvPr>
        </p:nvSpPr>
        <p:spPr>
          <a:xfrm>
            <a:off x="1097280" y="883921"/>
            <a:ext cx="10058400" cy="1036320"/>
          </a:xfrm>
        </p:spPr>
        <p:txBody>
          <a:bodyPr>
            <a:normAutofit fontScale="90000"/>
          </a:bodyPr>
          <a:lstStyle/>
          <a:p>
            <a:r>
              <a:rPr lang="en-US" dirty="0"/>
              <a:t>Data Cleaning</a:t>
            </a:r>
            <a:br>
              <a:rPr lang="en-US" dirty="0"/>
            </a:br>
            <a:endParaRPr lang="en-US" dirty="0"/>
          </a:p>
        </p:txBody>
      </p:sp>
      <p:sp>
        <p:nvSpPr>
          <p:cNvPr id="3" name="Content Placeholder 2">
            <a:extLst>
              <a:ext uri="{FF2B5EF4-FFF2-40B4-BE49-F238E27FC236}">
                <a16:creationId xmlns:a16="http://schemas.microsoft.com/office/drawing/2014/main" id="{80077273-F3AC-48E1-B703-A26D0C3BAE50}"/>
              </a:ext>
            </a:extLst>
          </p:cNvPr>
          <p:cNvSpPr>
            <a:spLocks noGrp="1"/>
          </p:cNvSpPr>
          <p:nvPr>
            <p:ph idx="1"/>
          </p:nvPr>
        </p:nvSpPr>
        <p:spPr>
          <a:xfrm>
            <a:off x="1097280" y="1845734"/>
            <a:ext cx="10800080" cy="4676986"/>
          </a:xfrm>
        </p:spPr>
        <p:txBody>
          <a:bodyPr>
            <a:normAutofit/>
          </a:bodyPr>
          <a:lstStyle/>
          <a:p>
            <a:pPr marL="0" lvl="0" indent="0">
              <a:buNone/>
            </a:pPr>
            <a:r>
              <a:rPr lang="en-US" sz="2400" i="1" dirty="0"/>
              <a:t>Removing potential outliers: </a:t>
            </a:r>
          </a:p>
          <a:p>
            <a:pPr lvl="0">
              <a:buFont typeface="Wingdings" panose="05000000000000000000" pitchFamily="2" charset="2"/>
              <a:buChar char="q"/>
            </a:pPr>
            <a:r>
              <a:rPr lang="en-US" sz="2400" i="1" dirty="0"/>
              <a:t> </a:t>
            </a:r>
            <a:r>
              <a:rPr lang="en-US" sz="2400" i="1" dirty="0" err="1"/>
              <a:t>trip_duration</a:t>
            </a:r>
            <a:r>
              <a:rPr lang="en-US" sz="2400" dirty="0"/>
              <a:t> &lt; 60 seconds OR </a:t>
            </a:r>
            <a:r>
              <a:rPr lang="en-US" sz="2400" i="1" dirty="0" err="1"/>
              <a:t>trip_duration</a:t>
            </a:r>
            <a:r>
              <a:rPr lang="en-US" sz="2400" dirty="0"/>
              <a:t> &gt; 99.8th percentile value of the trip duration</a:t>
            </a:r>
          </a:p>
          <a:p>
            <a:pPr lvl="0">
              <a:buFont typeface="Wingdings" panose="05000000000000000000" pitchFamily="2" charset="2"/>
              <a:buChar char="q"/>
            </a:pPr>
            <a:r>
              <a:rPr lang="en-US" sz="2400" dirty="0"/>
              <a:t> The </a:t>
            </a:r>
            <a:r>
              <a:rPr lang="en-US" sz="2400" i="1" dirty="0"/>
              <a:t>pickup</a:t>
            </a:r>
            <a:r>
              <a:rPr lang="en-US" sz="2400" dirty="0"/>
              <a:t> and </a:t>
            </a:r>
            <a:r>
              <a:rPr lang="en-US" sz="2400" i="1" dirty="0"/>
              <a:t>dropoff</a:t>
            </a:r>
            <a:r>
              <a:rPr lang="en-US" sz="2400" dirty="0"/>
              <a:t> </a:t>
            </a:r>
            <a:r>
              <a:rPr lang="en-US" sz="2400" i="1" dirty="0"/>
              <a:t>latitudes</a:t>
            </a:r>
            <a:r>
              <a:rPr lang="en-US" sz="2400" dirty="0"/>
              <a:t> and </a:t>
            </a:r>
            <a:r>
              <a:rPr lang="en-US" sz="2400" i="1" dirty="0"/>
              <a:t>longitudes</a:t>
            </a:r>
            <a:r>
              <a:rPr lang="en-US" sz="2400" dirty="0"/>
              <a:t> should be within the NYC boundary limits defined as,  </a:t>
            </a:r>
            <a:r>
              <a:rPr lang="en-US" sz="2400" i="1" dirty="0" err="1"/>
              <a:t>nyc_long_limits</a:t>
            </a:r>
            <a:r>
              <a:rPr lang="en-US" sz="2400" dirty="0"/>
              <a:t> = (-74.257159, -73.699215), </a:t>
            </a:r>
            <a:r>
              <a:rPr lang="en-US" sz="2400" i="1" dirty="0" err="1"/>
              <a:t>nyc_lat_limits</a:t>
            </a:r>
            <a:r>
              <a:rPr lang="en-US" sz="2400" dirty="0"/>
              <a:t> = (40.471021, 40.987326))</a:t>
            </a:r>
          </a:p>
          <a:p>
            <a:pPr lvl="0">
              <a:buFont typeface="Wingdings" panose="05000000000000000000" pitchFamily="2" charset="2"/>
              <a:buChar char="q"/>
            </a:pPr>
            <a:r>
              <a:rPr lang="en-US" sz="2400" i="1" dirty="0"/>
              <a:t> </a:t>
            </a:r>
            <a:r>
              <a:rPr lang="en-US" sz="2400" i="1" dirty="0" err="1"/>
              <a:t>haversine_distance</a:t>
            </a:r>
            <a:r>
              <a:rPr lang="en-US" sz="2400" i="1" dirty="0"/>
              <a:t>*</a:t>
            </a:r>
            <a:r>
              <a:rPr lang="en-US" sz="2400" dirty="0"/>
              <a:t> between the pickup and dropoff points is &gt; 0 and &lt; its 99.8th percentile value.</a:t>
            </a:r>
          </a:p>
          <a:p>
            <a:pPr lvl="0">
              <a:buFont typeface="Wingdings" panose="05000000000000000000" pitchFamily="2" charset="2"/>
              <a:buChar char="q"/>
            </a:pPr>
            <a:r>
              <a:rPr lang="en-US" sz="2400" dirty="0"/>
              <a:t> </a:t>
            </a:r>
            <a:r>
              <a:rPr lang="en-US" sz="2400" dirty="0" err="1"/>
              <a:t>speed_mph</a:t>
            </a:r>
            <a:r>
              <a:rPr lang="en-US" sz="2400" dirty="0"/>
              <a:t> &gt; 0.5mph and </a:t>
            </a:r>
            <a:r>
              <a:rPr lang="en-US" sz="2400" dirty="0" err="1"/>
              <a:t>speed_mph</a:t>
            </a:r>
            <a:r>
              <a:rPr lang="en-US" sz="2400" dirty="0"/>
              <a:t> &lt; 50mph</a:t>
            </a:r>
          </a:p>
          <a:p>
            <a:pPr marL="0" lvl="0" indent="0">
              <a:buNone/>
            </a:pPr>
            <a:endParaRPr lang="en-US" sz="2400" dirty="0"/>
          </a:p>
          <a:p>
            <a:pPr marL="0" indent="0">
              <a:buNone/>
            </a:pPr>
            <a:endParaRPr lang="en-US" dirty="0"/>
          </a:p>
        </p:txBody>
      </p:sp>
      <p:sp>
        <p:nvSpPr>
          <p:cNvPr id="4" name="TextBox 3">
            <a:extLst>
              <a:ext uri="{FF2B5EF4-FFF2-40B4-BE49-F238E27FC236}">
                <a16:creationId xmlns:a16="http://schemas.microsoft.com/office/drawing/2014/main" id="{1635D09A-DFFF-4D5D-887C-60B6E587703C}"/>
              </a:ext>
            </a:extLst>
          </p:cNvPr>
          <p:cNvSpPr txBox="1"/>
          <p:nvPr/>
        </p:nvSpPr>
        <p:spPr>
          <a:xfrm>
            <a:off x="1097280" y="5648960"/>
            <a:ext cx="10434320" cy="584775"/>
          </a:xfrm>
          <a:prstGeom prst="rect">
            <a:avLst/>
          </a:prstGeom>
          <a:noFill/>
        </p:spPr>
        <p:txBody>
          <a:bodyPr wrap="square" rtlCol="0">
            <a:spAutoFit/>
          </a:bodyPr>
          <a:lstStyle/>
          <a:p>
            <a:r>
              <a:rPr lang="en-US" sz="1600" dirty="0"/>
              <a:t>* Distance between two points on the globe calculated using the haversine formula, an approximation for the ellipsoidal distance. </a:t>
            </a:r>
          </a:p>
        </p:txBody>
      </p:sp>
    </p:spTree>
    <p:extLst>
      <p:ext uri="{BB962C8B-B14F-4D97-AF65-F5344CB8AC3E}">
        <p14:creationId xmlns:p14="http://schemas.microsoft.com/office/powerpoint/2010/main" val="3136389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BD7B06-8C05-485C-97DD-D9CB32BAA01E}"/>
              </a:ext>
            </a:extLst>
          </p:cNvPr>
          <p:cNvSpPr>
            <a:spLocks noGrp="1"/>
          </p:cNvSpPr>
          <p:nvPr>
            <p:ph type="title"/>
          </p:nvPr>
        </p:nvSpPr>
        <p:spPr>
          <a:xfrm>
            <a:off x="7859485" y="634946"/>
            <a:ext cx="3690257" cy="1450757"/>
          </a:xfrm>
        </p:spPr>
        <p:txBody>
          <a:bodyPr>
            <a:normAutofit/>
          </a:bodyPr>
          <a:lstStyle/>
          <a:p>
            <a:r>
              <a:rPr lang="en-US" sz="3400" b="1"/>
              <a:t>Trip duration statistics</a:t>
            </a:r>
            <a:br>
              <a:rPr lang="en-US" sz="3400" b="1"/>
            </a:br>
            <a:endParaRPr lang="en-US" sz="3400"/>
          </a:p>
        </p:txBody>
      </p:sp>
      <p:pic>
        <p:nvPicPr>
          <p:cNvPr id="5" name="Picture 4" descr="C:\Users\ppawar\AppData\Local\Microsoft\Windows\INetCache\Content.MSO\4621AB01.tmp">
            <a:extLst>
              <a:ext uri="{FF2B5EF4-FFF2-40B4-BE49-F238E27FC236}">
                <a16:creationId xmlns:a16="http://schemas.microsoft.com/office/drawing/2014/main" id="{300232B1-0E81-450A-98E7-299DC34F6D71}"/>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142241" y="1742578"/>
            <a:ext cx="7401560" cy="3439009"/>
          </a:xfrm>
          <a:prstGeom prst="rect">
            <a:avLst/>
          </a:prstGeom>
          <a:noFill/>
        </p:spPr>
      </p:pic>
      <p:cxnSp>
        <p:nvCxnSpPr>
          <p:cNvPr id="19" name="Straight Connector 11">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A595CE-8718-499A-B6ED-C162E19A584C}"/>
              </a:ext>
            </a:extLst>
          </p:cNvPr>
          <p:cNvSpPr>
            <a:spLocks noGrp="1"/>
          </p:cNvSpPr>
          <p:nvPr>
            <p:ph idx="1"/>
          </p:nvPr>
        </p:nvSpPr>
        <p:spPr>
          <a:xfrm>
            <a:off x="7859485" y="2198914"/>
            <a:ext cx="3690257" cy="3670180"/>
          </a:xfrm>
        </p:spPr>
        <p:txBody>
          <a:bodyPr>
            <a:normAutofit/>
          </a:bodyPr>
          <a:lstStyle/>
          <a:p>
            <a:r>
              <a:rPr lang="en-US" sz="1400"/>
              <a:t>Total number of trips = 4,086,440 (after cleaning)</a:t>
            </a:r>
          </a:p>
          <a:p>
            <a:pPr>
              <a:buFont typeface="Wingdings" panose="05000000000000000000" pitchFamily="2" charset="2"/>
              <a:buChar char="q"/>
            </a:pPr>
            <a:r>
              <a:rPr lang="en-US" sz="1400"/>
              <a:t>1% of the trips were below 1.83 minutes</a:t>
            </a:r>
          </a:p>
          <a:p>
            <a:pPr>
              <a:buFont typeface="Wingdings" panose="05000000000000000000" pitchFamily="2" charset="2"/>
              <a:buChar char="q"/>
            </a:pPr>
            <a:r>
              <a:rPr lang="en-US" sz="1400"/>
              <a:t>25% of the trips were below 6.68 minutes</a:t>
            </a:r>
          </a:p>
          <a:p>
            <a:pPr>
              <a:buFont typeface="Wingdings" panose="05000000000000000000" pitchFamily="2" charset="2"/>
              <a:buChar char="q"/>
            </a:pPr>
            <a:r>
              <a:rPr lang="en-US" sz="1400"/>
              <a:t>50% of the trips were below 11.08 minutes</a:t>
            </a:r>
          </a:p>
          <a:p>
            <a:pPr>
              <a:buFont typeface="Wingdings" panose="05000000000000000000" pitchFamily="2" charset="2"/>
              <a:buChar char="q"/>
            </a:pPr>
            <a:r>
              <a:rPr lang="en-US" sz="1400"/>
              <a:t>75% of the trips were below 17.95 minutes</a:t>
            </a:r>
          </a:p>
          <a:p>
            <a:pPr>
              <a:buFont typeface="Wingdings" panose="05000000000000000000" pitchFamily="2" charset="2"/>
              <a:buChar char="q"/>
            </a:pPr>
            <a:r>
              <a:rPr lang="en-US" sz="1400"/>
              <a:t>95% of the trips were below 34.70 minutes</a:t>
            </a:r>
          </a:p>
          <a:p>
            <a:pPr>
              <a:buFont typeface="Wingdings" panose="05000000000000000000" pitchFamily="2" charset="2"/>
              <a:buChar char="q"/>
            </a:pPr>
            <a:r>
              <a:rPr lang="en-US" sz="1400"/>
              <a:t>99% of the trips were below 54.60 minutes</a:t>
            </a:r>
          </a:p>
          <a:p>
            <a:pPr>
              <a:buFont typeface="Wingdings" panose="05000000000000000000" pitchFamily="2" charset="2"/>
              <a:buChar char="q"/>
            </a:pPr>
            <a:r>
              <a:rPr lang="en-US" sz="1400"/>
              <a:t>99.8% of the trips were below 73.42 minutes</a:t>
            </a:r>
          </a:p>
          <a:p>
            <a:endParaRPr lang="en-US" sz="1400"/>
          </a:p>
        </p:txBody>
      </p:sp>
      <p:sp>
        <p:nvSpPr>
          <p:cNvPr id="20" name="Rectangle 13">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15">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5290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52ADD-2E8F-4D18-89F7-9AC40CDB716C}"/>
              </a:ext>
            </a:extLst>
          </p:cNvPr>
          <p:cNvSpPr>
            <a:spLocks noGrp="1"/>
          </p:cNvSpPr>
          <p:nvPr>
            <p:ph type="title"/>
          </p:nvPr>
        </p:nvSpPr>
        <p:spPr>
          <a:xfrm>
            <a:off x="1097280" y="243840"/>
            <a:ext cx="10058400" cy="955040"/>
          </a:xfrm>
        </p:spPr>
        <p:txBody>
          <a:bodyPr/>
          <a:lstStyle/>
          <a:p>
            <a:r>
              <a:rPr lang="en-US" b="1" dirty="0"/>
              <a:t>Trips on latitude vs longitude map</a:t>
            </a:r>
            <a:endParaRPr lang="en-US" dirty="0"/>
          </a:p>
        </p:txBody>
      </p:sp>
      <p:pic>
        <p:nvPicPr>
          <p:cNvPr id="5" name="Picture 4">
            <a:extLst>
              <a:ext uri="{FF2B5EF4-FFF2-40B4-BE49-F238E27FC236}">
                <a16:creationId xmlns:a16="http://schemas.microsoft.com/office/drawing/2014/main" id="{B3C7AF1B-8A3D-4F43-BBB1-53D96D9510A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 y="1198880"/>
            <a:ext cx="10454640" cy="5242560"/>
          </a:xfrm>
          <a:prstGeom prst="rect">
            <a:avLst/>
          </a:prstGeom>
          <a:noFill/>
          <a:ln>
            <a:noFill/>
          </a:ln>
        </p:spPr>
      </p:pic>
    </p:spTree>
    <p:extLst>
      <p:ext uri="{BB962C8B-B14F-4D97-AF65-F5344CB8AC3E}">
        <p14:creationId xmlns:p14="http://schemas.microsoft.com/office/powerpoint/2010/main" val="1821272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E79BAD-B290-403C-B526-555C2E6F000C}"/>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6100">
                <a:solidFill>
                  <a:schemeClr val="tx1">
                    <a:lumMod val="85000"/>
                    <a:lumOff val="15000"/>
                  </a:schemeClr>
                </a:solidFill>
              </a:rPr>
              <a:t>Taxi Trips Count and Mean Trip Duration</a:t>
            </a:r>
          </a:p>
        </p:txBody>
      </p:sp>
      <p:pic>
        <p:nvPicPr>
          <p:cNvPr id="4" name="Content Placeholder 3" descr="C:\Users\ppawar\AppData\Local\Microsoft\Windows\INetCache\Content.MSO\B8B46D27.tmp">
            <a:extLst>
              <a:ext uri="{FF2B5EF4-FFF2-40B4-BE49-F238E27FC236}">
                <a16:creationId xmlns:a16="http://schemas.microsoft.com/office/drawing/2014/main" id="{272D0FF9-650F-47E0-8C92-882B70ABDD9C}"/>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247919" y="848027"/>
            <a:ext cx="7819121" cy="4638262"/>
          </a:xfrm>
          <a:prstGeom prst="rect">
            <a:avLst/>
          </a:prstGeom>
          <a:noFill/>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4584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1"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2"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52427C-3876-4DE5-A853-679B70E9F5E5}"/>
              </a:ext>
            </a:extLst>
          </p:cNvPr>
          <p:cNvSpPr>
            <a:spLocks noGrp="1"/>
          </p:cNvSpPr>
          <p:nvPr>
            <p:ph type="title"/>
          </p:nvPr>
        </p:nvSpPr>
        <p:spPr>
          <a:xfrm>
            <a:off x="8499672" y="654909"/>
            <a:ext cx="3401961" cy="3686015"/>
          </a:xfrm>
        </p:spPr>
        <p:txBody>
          <a:bodyPr vert="horz" lIns="91440" tIns="45720" rIns="91440" bIns="45720" rtlCol="0" anchor="b">
            <a:normAutofit/>
          </a:bodyPr>
          <a:lstStyle/>
          <a:p>
            <a:r>
              <a:rPr lang="en-US" sz="6600" dirty="0">
                <a:solidFill>
                  <a:schemeClr val="tx1">
                    <a:lumMod val="85000"/>
                    <a:lumOff val="15000"/>
                  </a:schemeClr>
                </a:solidFill>
              </a:rPr>
              <a:t>Average Weekly Taxi Trip Duration</a:t>
            </a:r>
          </a:p>
        </p:txBody>
      </p:sp>
      <p:pic>
        <p:nvPicPr>
          <p:cNvPr id="4" name="Content Placeholder 3" descr="C:\Users\ppawar\AppData\Local\Microsoft\Windows\INetCache\Content.MSO\27F778CD.tmp">
            <a:extLst>
              <a:ext uri="{FF2B5EF4-FFF2-40B4-BE49-F238E27FC236}">
                <a16:creationId xmlns:a16="http://schemas.microsoft.com/office/drawing/2014/main" id="{0EF3C410-FAFC-4204-A5FC-6AEEC1D8148F}"/>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0" y="734512"/>
            <a:ext cx="8209304" cy="4865292"/>
          </a:xfrm>
          <a:prstGeom prst="rect">
            <a:avLst/>
          </a:prstGeom>
          <a:noFill/>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506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A6FF7-D8A2-4BAE-B30F-D6D616B94DB2}"/>
              </a:ext>
            </a:extLst>
          </p:cNvPr>
          <p:cNvSpPr>
            <a:spLocks noGrp="1"/>
          </p:cNvSpPr>
          <p:nvPr>
            <p:ph type="title"/>
          </p:nvPr>
        </p:nvSpPr>
        <p:spPr>
          <a:xfrm>
            <a:off x="8670833" y="1341123"/>
            <a:ext cx="3401961" cy="3004881"/>
          </a:xfrm>
        </p:spPr>
        <p:txBody>
          <a:bodyPr vert="horz" lIns="91440" tIns="45720" rIns="91440" bIns="45720" rtlCol="0" anchor="b">
            <a:normAutofit/>
          </a:bodyPr>
          <a:lstStyle/>
          <a:p>
            <a:r>
              <a:rPr lang="en-US" sz="6600" dirty="0">
                <a:solidFill>
                  <a:schemeClr val="tx1">
                    <a:lumMod val="85000"/>
                    <a:lumOff val="15000"/>
                  </a:schemeClr>
                </a:solidFill>
              </a:rPr>
              <a:t>Distance vs Trip Duration</a:t>
            </a:r>
          </a:p>
        </p:txBody>
      </p:sp>
      <p:pic>
        <p:nvPicPr>
          <p:cNvPr id="4" name="Content Placeholder 3" descr="C:\Users\ppawar\AppData\Local\Microsoft\Windows\INetCache\Content.MSO\D7103BC5.tmp">
            <a:extLst>
              <a:ext uri="{FF2B5EF4-FFF2-40B4-BE49-F238E27FC236}">
                <a16:creationId xmlns:a16="http://schemas.microsoft.com/office/drawing/2014/main" id="{1F953400-197C-40BD-B837-551E2B3CB7FE}"/>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65059" y="1341123"/>
            <a:ext cx="8605774" cy="4450055"/>
          </a:xfrm>
          <a:prstGeom prst="rect">
            <a:avLst/>
          </a:prstGeom>
          <a:noFill/>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44019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8ACC-C6CD-49CD-90E0-8D9FBD554D5C}"/>
              </a:ext>
            </a:extLst>
          </p:cNvPr>
          <p:cNvSpPr>
            <a:spLocks noGrp="1"/>
          </p:cNvSpPr>
          <p:nvPr>
            <p:ph type="title"/>
          </p:nvPr>
        </p:nvSpPr>
        <p:spPr>
          <a:xfrm>
            <a:off x="1066800" y="284478"/>
            <a:ext cx="10058400" cy="748454"/>
          </a:xfrm>
        </p:spPr>
        <p:txBody>
          <a:bodyPr/>
          <a:lstStyle/>
          <a:p>
            <a:r>
              <a:rPr lang="en-US" dirty="0"/>
              <a:t>Count of Trips within each Taxi Zone</a:t>
            </a:r>
          </a:p>
        </p:txBody>
      </p:sp>
      <p:pic>
        <p:nvPicPr>
          <p:cNvPr id="4" name="Content Placeholder 3">
            <a:extLst>
              <a:ext uri="{FF2B5EF4-FFF2-40B4-BE49-F238E27FC236}">
                <a16:creationId xmlns:a16="http://schemas.microsoft.com/office/drawing/2014/main" id="{90009729-07A6-41D0-BED7-5500E8231A16}"/>
              </a:ext>
            </a:extLst>
          </p:cNvPr>
          <p:cNvPicPr>
            <a:picLocks noGrp="1"/>
          </p:cNvPicPr>
          <p:nvPr>
            <p:ph idx="1"/>
          </p:nvPr>
        </p:nvPicPr>
        <p:blipFill rotWithShape="1">
          <a:blip r:embed="rId2" cstate="print">
            <a:extLst>
              <a:ext uri="{28A0092B-C50C-407E-A947-70E740481C1C}">
                <a14:useLocalDpi xmlns:a14="http://schemas.microsoft.com/office/drawing/2010/main" val="0"/>
              </a:ext>
            </a:extLst>
          </a:blip>
          <a:srcRect r="5077"/>
          <a:stretch/>
        </p:blipFill>
        <p:spPr bwMode="auto">
          <a:xfrm>
            <a:off x="518160" y="1000762"/>
            <a:ext cx="11155680" cy="562864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8516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B0D24-0BC8-4F6D-B69F-F7EABA7C1CAC}"/>
              </a:ext>
            </a:extLst>
          </p:cNvPr>
          <p:cNvSpPr>
            <a:spLocks noGrp="1"/>
          </p:cNvSpPr>
          <p:nvPr>
            <p:ph type="title"/>
          </p:nvPr>
        </p:nvSpPr>
        <p:spPr>
          <a:xfrm>
            <a:off x="985520" y="304800"/>
            <a:ext cx="10058400" cy="863600"/>
          </a:xfrm>
        </p:spPr>
        <p:txBody>
          <a:bodyPr/>
          <a:lstStyle/>
          <a:p>
            <a:r>
              <a:rPr lang="en-US" dirty="0"/>
              <a:t>Zone-wise Mean Trip Duration</a:t>
            </a:r>
          </a:p>
        </p:txBody>
      </p:sp>
      <p:pic>
        <p:nvPicPr>
          <p:cNvPr id="4" name="Content Placeholder 3">
            <a:extLst>
              <a:ext uri="{FF2B5EF4-FFF2-40B4-BE49-F238E27FC236}">
                <a16:creationId xmlns:a16="http://schemas.microsoft.com/office/drawing/2014/main" id="{BF69632A-1DB7-402D-B499-C83B8A929EDA}"/>
              </a:ext>
            </a:extLst>
          </p:cNvPr>
          <p:cNvPicPr>
            <a:picLocks noGrp="1"/>
          </p:cNvPicPr>
          <p:nvPr>
            <p:ph idx="1"/>
          </p:nvPr>
        </p:nvPicPr>
        <p:blipFill rotWithShape="1">
          <a:blip r:embed="rId2" cstate="print">
            <a:extLst>
              <a:ext uri="{28A0092B-C50C-407E-A947-70E740481C1C}">
                <a14:useLocalDpi xmlns:a14="http://schemas.microsoft.com/office/drawing/2010/main" val="0"/>
              </a:ext>
            </a:extLst>
          </a:blip>
          <a:srcRect r="2514"/>
          <a:stretch/>
        </p:blipFill>
        <p:spPr bwMode="auto">
          <a:xfrm>
            <a:off x="518160" y="1087120"/>
            <a:ext cx="11155680" cy="52933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84962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8" name="Straight Connector 17">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C4AAA502-5435-489E-9538-3A40E6C71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2940F6-CA89-4D41-BEAA-D36B4A062955}"/>
              </a:ext>
            </a:extLst>
          </p:cNvPr>
          <p:cNvSpPr>
            <a:spLocks noGrp="1"/>
          </p:cNvSpPr>
          <p:nvPr>
            <p:ph type="title"/>
          </p:nvPr>
        </p:nvSpPr>
        <p:spPr>
          <a:xfrm>
            <a:off x="842579" y="395658"/>
            <a:ext cx="10909073" cy="1057655"/>
          </a:xfrm>
        </p:spPr>
        <p:txBody>
          <a:bodyPr vert="horz" lIns="91440" tIns="45720" rIns="91440" bIns="45720" rtlCol="0" anchor="b">
            <a:normAutofit/>
          </a:bodyPr>
          <a:lstStyle/>
          <a:p>
            <a:r>
              <a:rPr lang="en-US" sz="4200" dirty="0">
                <a:solidFill>
                  <a:schemeClr val="tx1">
                    <a:lumMod val="85000"/>
                    <a:lumOff val="15000"/>
                  </a:schemeClr>
                </a:solidFill>
              </a:rPr>
              <a:t>Trip directions for all boroughs except Manhattan</a:t>
            </a:r>
          </a:p>
        </p:txBody>
      </p:sp>
      <p:pic>
        <p:nvPicPr>
          <p:cNvPr id="9" name="Content Placeholder 8" descr="A close up of a map&#10;&#10;Description automatically generated">
            <a:extLst>
              <a:ext uri="{FF2B5EF4-FFF2-40B4-BE49-F238E27FC236}">
                <a16:creationId xmlns:a16="http://schemas.microsoft.com/office/drawing/2014/main" id="{23FC6A9C-0D93-421F-8DCC-67824F6A5CA6}"/>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108822" y="1519797"/>
            <a:ext cx="9947341" cy="4032477"/>
          </a:xfrm>
          <a:prstGeom prst="rect">
            <a:avLst/>
          </a:prstGeom>
        </p:spPr>
      </p:pic>
      <p:cxnSp>
        <p:nvCxnSpPr>
          <p:cNvPr id="22" name="Straight Connector 21">
            <a:extLst>
              <a:ext uri="{FF2B5EF4-FFF2-40B4-BE49-F238E27FC236}">
                <a16:creationId xmlns:a16="http://schemas.microsoft.com/office/drawing/2014/main" id="{C9AC0290-4702-4519-B0F4-C2A4688099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E42378B-2E28-4810-8421-7A473A40E3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a:extLst>
              <a:ext uri="{FF2B5EF4-FFF2-40B4-BE49-F238E27FC236}">
                <a16:creationId xmlns:a16="http://schemas.microsoft.com/office/drawing/2014/main" id="{0D91DD17-237F-4811-BC0E-128EB1BD7C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a:extLst>
              <a:ext uri="{FF2B5EF4-FFF2-40B4-BE49-F238E27FC236}">
                <a16:creationId xmlns:a16="http://schemas.microsoft.com/office/drawing/2014/main" id="{E28FE95B-B257-4ECF-8D21-EC1E835C4C31}"/>
              </a:ext>
            </a:extLst>
          </p:cNvPr>
          <p:cNvSpPr txBox="1"/>
          <p:nvPr/>
        </p:nvSpPr>
        <p:spPr>
          <a:xfrm>
            <a:off x="609600" y="5750560"/>
            <a:ext cx="10909073" cy="369332"/>
          </a:xfrm>
          <a:prstGeom prst="rect">
            <a:avLst/>
          </a:prstGeom>
          <a:noFill/>
        </p:spPr>
        <p:txBody>
          <a:bodyPr wrap="square" rtlCol="0">
            <a:spAutoFit/>
          </a:bodyPr>
          <a:lstStyle/>
          <a:p>
            <a:pPr algn="ctr"/>
            <a:r>
              <a:rPr lang="en-US" dirty="0"/>
              <a:t>North = 0 deg, E = 90 deg, S = 180 deg, W = 270 deg, North = 360</a:t>
            </a:r>
          </a:p>
        </p:txBody>
      </p:sp>
    </p:spTree>
    <p:extLst>
      <p:ext uri="{BB962C8B-B14F-4D97-AF65-F5344CB8AC3E}">
        <p14:creationId xmlns:p14="http://schemas.microsoft.com/office/powerpoint/2010/main" val="1819831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6CF97-5FBB-4305-9B86-ECFD02F00078}"/>
              </a:ext>
            </a:extLst>
          </p:cNvPr>
          <p:cNvSpPr>
            <a:spLocks noGrp="1"/>
          </p:cNvSpPr>
          <p:nvPr>
            <p:ph type="title"/>
          </p:nvPr>
        </p:nvSpPr>
        <p:spPr>
          <a:xfrm>
            <a:off x="1066800" y="113883"/>
            <a:ext cx="10058400" cy="1450757"/>
          </a:xfrm>
        </p:spPr>
        <p:txBody>
          <a:bodyPr/>
          <a:lstStyle/>
          <a:p>
            <a:r>
              <a:rPr lang="en-US" dirty="0"/>
              <a:t>Trip direction of all boroughs categorized by </a:t>
            </a:r>
            <a:r>
              <a:rPr lang="en-US" dirty="0" err="1"/>
              <a:t>speed_mph</a:t>
            </a:r>
            <a:endParaRPr lang="en-US" dirty="0"/>
          </a:p>
        </p:txBody>
      </p:sp>
      <p:pic>
        <p:nvPicPr>
          <p:cNvPr id="4" name="Content Placeholder 3" descr="A close up of a map&#10;&#10;Description automatically generated">
            <a:extLst>
              <a:ext uri="{FF2B5EF4-FFF2-40B4-BE49-F238E27FC236}">
                <a16:creationId xmlns:a16="http://schemas.microsoft.com/office/drawing/2014/main" id="{6BEB140D-99D6-4D03-BDCE-F403DCA50C01}"/>
              </a:ext>
            </a:extLst>
          </p:cNvPr>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750570" y="1838008"/>
            <a:ext cx="10690860" cy="4400232"/>
          </a:xfrm>
          <a:prstGeom prst="rect">
            <a:avLst/>
          </a:prstGeom>
        </p:spPr>
      </p:pic>
    </p:spTree>
    <p:extLst>
      <p:ext uri="{BB962C8B-B14F-4D97-AF65-F5344CB8AC3E}">
        <p14:creationId xmlns:p14="http://schemas.microsoft.com/office/powerpoint/2010/main" val="1894375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5E3C64-A4FC-4216-9092-610F2F4C52FE}"/>
              </a:ext>
            </a:extLst>
          </p:cNvPr>
          <p:cNvSpPr>
            <a:spLocks noGrp="1"/>
          </p:cNvSpPr>
          <p:nvPr>
            <p:ph type="title"/>
          </p:nvPr>
        </p:nvSpPr>
        <p:spPr>
          <a:xfrm>
            <a:off x="7776027" y="1524343"/>
            <a:ext cx="3773715" cy="904239"/>
          </a:xfrm>
        </p:spPr>
        <p:txBody>
          <a:bodyPr>
            <a:noAutofit/>
          </a:bodyPr>
          <a:lstStyle/>
          <a:p>
            <a:r>
              <a:rPr lang="en-US" sz="3600" b="1" dirty="0"/>
              <a:t>Clustering similar zones</a:t>
            </a:r>
            <a:br>
              <a:rPr lang="en-US" sz="3600" b="1" dirty="0"/>
            </a:br>
            <a:endParaRPr lang="en-US" sz="3600" dirty="0"/>
          </a:p>
        </p:txBody>
      </p:sp>
      <p:pic>
        <p:nvPicPr>
          <p:cNvPr id="4" name="Content Placeholder 3" descr="C:\Users\ppawar\AppData\Local\Microsoft\Windows\INetCache\Content.MSO\3BEBEB5.tmp">
            <a:extLst>
              <a:ext uri="{FF2B5EF4-FFF2-40B4-BE49-F238E27FC236}">
                <a16:creationId xmlns:a16="http://schemas.microsoft.com/office/drawing/2014/main" id="{886B7791-F4F1-4C96-BB9F-669E2CF796E9}"/>
              </a:ext>
            </a:extLst>
          </p:cNvPr>
          <p:cNvPicPr>
            <a:picLocks/>
          </p:cNvPicPr>
          <p:nvPr/>
        </p:nvPicPr>
        <p:blipFill>
          <a:blip r:embed="rId3">
            <a:extLst>
              <a:ext uri="{28A0092B-C50C-407E-A947-70E740481C1C}">
                <a14:useLocalDpi xmlns:a14="http://schemas.microsoft.com/office/drawing/2010/main" val="0"/>
              </a:ext>
            </a:extLst>
          </a:blip>
          <a:stretch>
            <a:fillRect/>
          </a:stretch>
        </p:blipFill>
        <p:spPr bwMode="auto">
          <a:xfrm>
            <a:off x="633999" y="956589"/>
            <a:ext cx="6909801" cy="4681389"/>
          </a:xfrm>
          <a:prstGeom prst="rect">
            <a:avLst/>
          </a:prstGeom>
          <a:noFill/>
        </p:spPr>
      </p:pic>
      <p:cxnSp>
        <p:nvCxnSpPr>
          <p:cNvPr id="24" name="Straight Connector 1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43D649C-C422-407A-912B-E41B99A39670}"/>
              </a:ext>
            </a:extLst>
          </p:cNvPr>
          <p:cNvSpPr>
            <a:spLocks noGrp="1"/>
          </p:cNvSpPr>
          <p:nvPr>
            <p:ph idx="1"/>
          </p:nvPr>
        </p:nvSpPr>
        <p:spPr>
          <a:xfrm>
            <a:off x="7859485" y="2198914"/>
            <a:ext cx="3690257" cy="3670180"/>
          </a:xfrm>
        </p:spPr>
        <p:txBody>
          <a:bodyPr>
            <a:normAutofit/>
          </a:bodyPr>
          <a:lstStyle/>
          <a:p>
            <a:pPr>
              <a:buFont typeface="Wingdings" panose="05000000000000000000" pitchFamily="2" charset="2"/>
              <a:buChar char="§"/>
            </a:pPr>
            <a:r>
              <a:rPr lang="en-US" dirty="0"/>
              <a:t> Original taxi zones didn’t have any order</a:t>
            </a:r>
          </a:p>
          <a:p>
            <a:pPr>
              <a:buFont typeface="Wingdings" panose="05000000000000000000" pitchFamily="2" charset="2"/>
              <a:buChar char="§"/>
            </a:pPr>
            <a:r>
              <a:rPr lang="en-US" dirty="0"/>
              <a:t> There were total 263 taxi zones</a:t>
            </a:r>
          </a:p>
          <a:p>
            <a:pPr>
              <a:buFont typeface="Wingdings" panose="05000000000000000000" pitchFamily="2" charset="2"/>
              <a:buChar char="§"/>
            </a:pPr>
            <a:r>
              <a:rPr lang="en-US" dirty="0"/>
              <a:t> So, to reduce the number and cluster the similar zones together based on their </a:t>
            </a:r>
            <a:r>
              <a:rPr lang="en-US" dirty="0" err="1"/>
              <a:t>lat</a:t>
            </a:r>
            <a:r>
              <a:rPr lang="en-US" dirty="0"/>
              <a:t>, </a:t>
            </a:r>
            <a:r>
              <a:rPr lang="en-US" dirty="0" err="1"/>
              <a:t>lon</a:t>
            </a:r>
            <a:r>
              <a:rPr lang="en-US" dirty="0"/>
              <a:t> and outbound and inbound traffic, Hierarchical clustering was used. </a:t>
            </a:r>
          </a:p>
          <a:p>
            <a:pPr>
              <a:buFont typeface="Wingdings" panose="05000000000000000000" pitchFamily="2" charset="2"/>
              <a:buChar char="§"/>
            </a:pPr>
            <a:r>
              <a:rPr lang="en-US" dirty="0"/>
              <a:t> Reduced from 263 to 50</a:t>
            </a:r>
          </a:p>
        </p:txBody>
      </p:sp>
      <p:sp>
        <p:nvSpPr>
          <p:cNvPr id="25" name="Rectangle 14">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16">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60450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F1B6A-BA09-459D-8A83-0278F50F458E}"/>
              </a:ext>
            </a:extLst>
          </p:cNvPr>
          <p:cNvSpPr>
            <a:spLocks noGrp="1"/>
          </p:cNvSpPr>
          <p:nvPr>
            <p:ph type="title"/>
          </p:nvPr>
        </p:nvSpPr>
        <p:spPr/>
        <p:txBody>
          <a:bodyPr/>
          <a:lstStyle/>
          <a:p>
            <a:r>
              <a:rPr lang="en-US" dirty="0"/>
              <a:t>Machine Learning models</a:t>
            </a:r>
          </a:p>
        </p:txBody>
      </p:sp>
      <p:sp>
        <p:nvSpPr>
          <p:cNvPr id="3" name="Content Placeholder 2">
            <a:extLst>
              <a:ext uri="{FF2B5EF4-FFF2-40B4-BE49-F238E27FC236}">
                <a16:creationId xmlns:a16="http://schemas.microsoft.com/office/drawing/2014/main" id="{B5C0D8D4-D3C4-4E42-91CB-10444B83E899}"/>
              </a:ext>
            </a:extLst>
          </p:cNvPr>
          <p:cNvSpPr>
            <a:spLocks noGrp="1"/>
          </p:cNvSpPr>
          <p:nvPr>
            <p:ph idx="1"/>
          </p:nvPr>
        </p:nvSpPr>
        <p:spPr/>
        <p:txBody>
          <a:bodyPr>
            <a:normAutofit/>
          </a:bodyPr>
          <a:lstStyle/>
          <a:p>
            <a:pPr>
              <a:buFont typeface="Wingdings" panose="05000000000000000000" pitchFamily="2" charset="2"/>
              <a:buChar char="q"/>
            </a:pPr>
            <a:r>
              <a:rPr lang="en-US" sz="2800" dirty="0"/>
              <a:t> Baseline prediction</a:t>
            </a:r>
          </a:p>
          <a:p>
            <a:pPr>
              <a:buFont typeface="Wingdings" panose="05000000000000000000" pitchFamily="2" charset="2"/>
              <a:buChar char="q"/>
            </a:pPr>
            <a:r>
              <a:rPr lang="en-US" sz="2800" dirty="0"/>
              <a:t> Elastic Net Linear Regression</a:t>
            </a:r>
          </a:p>
          <a:p>
            <a:pPr>
              <a:buFont typeface="Wingdings" panose="05000000000000000000" pitchFamily="2" charset="2"/>
              <a:buChar char="q"/>
            </a:pPr>
            <a:r>
              <a:rPr lang="en-US" sz="2800" dirty="0"/>
              <a:t> Random Forest</a:t>
            </a:r>
          </a:p>
          <a:p>
            <a:pPr>
              <a:buFont typeface="Wingdings" panose="05000000000000000000" pitchFamily="2" charset="2"/>
              <a:buChar char="q"/>
            </a:pPr>
            <a:r>
              <a:rPr lang="en-US" sz="2800" dirty="0"/>
              <a:t> XGBoost </a:t>
            </a:r>
          </a:p>
        </p:txBody>
      </p:sp>
    </p:spTree>
    <p:extLst>
      <p:ext uri="{BB962C8B-B14F-4D97-AF65-F5344CB8AC3E}">
        <p14:creationId xmlns:p14="http://schemas.microsoft.com/office/powerpoint/2010/main" val="183106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F5C73-6C9C-4205-BE5F-1C11978C9176}"/>
              </a:ext>
            </a:extLst>
          </p:cNvPr>
          <p:cNvSpPr>
            <a:spLocks noGrp="1"/>
          </p:cNvSpPr>
          <p:nvPr>
            <p:ph type="title"/>
          </p:nvPr>
        </p:nvSpPr>
        <p:spPr/>
        <p:txBody>
          <a:bodyPr/>
          <a:lstStyle/>
          <a:p>
            <a:r>
              <a:rPr lang="en-US" dirty="0"/>
              <a:t>Data to Fit the Models</a:t>
            </a:r>
          </a:p>
        </p:txBody>
      </p:sp>
      <p:sp>
        <p:nvSpPr>
          <p:cNvPr id="3" name="Content Placeholder 2">
            <a:extLst>
              <a:ext uri="{FF2B5EF4-FFF2-40B4-BE49-F238E27FC236}">
                <a16:creationId xmlns:a16="http://schemas.microsoft.com/office/drawing/2014/main" id="{5D73BF35-E63C-4364-90CB-A60428936A78}"/>
              </a:ext>
            </a:extLst>
          </p:cNvPr>
          <p:cNvSpPr>
            <a:spLocks noGrp="1"/>
          </p:cNvSpPr>
          <p:nvPr>
            <p:ph idx="1"/>
          </p:nvPr>
        </p:nvSpPr>
        <p:spPr>
          <a:xfrm>
            <a:off x="1097280" y="1845734"/>
            <a:ext cx="10058400" cy="3681306"/>
          </a:xfrm>
        </p:spPr>
        <p:txBody>
          <a:bodyPr>
            <a:normAutofit/>
          </a:bodyPr>
          <a:lstStyle/>
          <a:p>
            <a:pPr>
              <a:buFont typeface="Wingdings" panose="05000000000000000000" pitchFamily="2" charset="2"/>
              <a:buChar char="q"/>
            </a:pPr>
            <a:r>
              <a:rPr lang="en-US" sz="2400" dirty="0"/>
              <a:t> </a:t>
            </a:r>
            <a:r>
              <a:rPr lang="en-US" dirty="0" err="1"/>
              <a:t>cols_to_use</a:t>
            </a:r>
            <a:r>
              <a:rPr lang="en-US" dirty="0"/>
              <a:t>* = </a:t>
            </a:r>
            <a:r>
              <a:rPr lang="en-US" dirty="0">
                <a:latin typeface="Cambria Math" panose="02040503050406030204" pitchFamily="18" charset="0"/>
                <a:ea typeface="Cambria Math" panose="02040503050406030204" pitchFamily="18" charset="0"/>
              </a:rPr>
              <a:t>['</a:t>
            </a:r>
            <a:r>
              <a:rPr lang="en-US" dirty="0" err="1">
                <a:latin typeface="Cambria Math" panose="02040503050406030204" pitchFamily="18" charset="0"/>
                <a:ea typeface="Cambria Math" panose="02040503050406030204" pitchFamily="18" charset="0"/>
              </a:rPr>
              <a:t>vendorid</a:t>
            </a:r>
            <a:r>
              <a:rPr lang="en-US" dirty="0">
                <a:latin typeface="Cambria Math" panose="02040503050406030204" pitchFamily="18" charset="0"/>
                <a:ea typeface="Cambria Math" panose="02040503050406030204" pitchFamily="18" charset="0"/>
              </a:rPr>
              <a:t>', '</a:t>
            </a:r>
            <a:r>
              <a:rPr lang="en-US" dirty="0" err="1">
                <a:latin typeface="Cambria Math" panose="02040503050406030204" pitchFamily="18" charset="0"/>
                <a:ea typeface="Cambria Math" panose="02040503050406030204" pitchFamily="18" charset="0"/>
              </a:rPr>
              <a:t>passenger_count</a:t>
            </a:r>
            <a:r>
              <a:rPr lang="en-US" dirty="0">
                <a:latin typeface="Cambria Math" panose="02040503050406030204" pitchFamily="18" charset="0"/>
                <a:ea typeface="Cambria Math" panose="02040503050406030204" pitchFamily="18" charset="0"/>
              </a:rPr>
              <a:t>', '</a:t>
            </a:r>
            <a:r>
              <a:rPr lang="en-US" dirty="0" err="1">
                <a:latin typeface="Cambria Math" panose="02040503050406030204" pitchFamily="18" charset="0"/>
                <a:ea typeface="Cambria Math" panose="02040503050406030204" pitchFamily="18" charset="0"/>
              </a:rPr>
              <a:t>pickup_longitude</a:t>
            </a:r>
            <a:r>
              <a:rPr lang="en-US" dirty="0">
                <a:latin typeface="Cambria Math" panose="02040503050406030204" pitchFamily="18" charset="0"/>
                <a:ea typeface="Cambria Math" panose="02040503050406030204" pitchFamily="18" charset="0"/>
              </a:rPr>
              <a:t>', 'pickup_latitude', 'dropoff_longitude', '</a:t>
            </a:r>
            <a:r>
              <a:rPr lang="en-US" dirty="0" err="1">
                <a:latin typeface="Cambria Math" panose="02040503050406030204" pitchFamily="18" charset="0"/>
                <a:ea typeface="Cambria Math" panose="02040503050406030204" pitchFamily="18" charset="0"/>
              </a:rPr>
              <a:t>dropoff_latitude</a:t>
            </a:r>
            <a:r>
              <a:rPr lang="en-US" dirty="0">
                <a:latin typeface="Cambria Math" panose="02040503050406030204" pitchFamily="18" charset="0"/>
                <a:ea typeface="Cambria Math" panose="02040503050406030204" pitchFamily="18" charset="0"/>
              </a:rPr>
              <a:t>', 'pickup_month', 'pickup_day', 'pickup_hour', 'pickup_weekday', 'holiday', 'distance_hav', 'bearing', '</a:t>
            </a:r>
            <a:r>
              <a:rPr lang="en-US" dirty="0" err="1">
                <a:latin typeface="Cambria Math" panose="02040503050406030204" pitchFamily="18" charset="0"/>
                <a:ea typeface="Cambria Math" panose="02040503050406030204" pitchFamily="18" charset="0"/>
              </a:rPr>
              <a:t>pickup_zone_cluster</a:t>
            </a:r>
            <a:r>
              <a:rPr lang="en-US" dirty="0">
                <a:latin typeface="Cambria Math" panose="02040503050406030204" pitchFamily="18" charset="0"/>
                <a:ea typeface="Cambria Math" panose="02040503050406030204" pitchFamily="18" charset="0"/>
              </a:rPr>
              <a:t>', 'dropoff_zone_cluster', '</a:t>
            </a:r>
            <a:r>
              <a:rPr lang="en-US" dirty="0" err="1">
                <a:latin typeface="Cambria Math" panose="02040503050406030204" pitchFamily="18" charset="0"/>
                <a:ea typeface="Cambria Math" panose="02040503050406030204" pitchFamily="18" charset="0"/>
              </a:rPr>
              <a:t>trip_duration</a:t>
            </a:r>
            <a:r>
              <a:rPr lang="en-US" dirty="0">
                <a:latin typeface="Cambria Math" panose="02040503050406030204" pitchFamily="18" charset="0"/>
                <a:ea typeface="Cambria Math" panose="02040503050406030204" pitchFamily="18" charset="0"/>
              </a:rPr>
              <a:t>’]</a:t>
            </a:r>
          </a:p>
          <a:p>
            <a:pPr>
              <a:buFont typeface="Wingdings" panose="05000000000000000000" pitchFamily="2" charset="2"/>
              <a:buChar char="q"/>
            </a:pPr>
            <a:r>
              <a:rPr lang="en-US" dirty="0"/>
              <a:t> Total 16 variables used</a:t>
            </a:r>
          </a:p>
          <a:p>
            <a:pPr>
              <a:buFont typeface="Wingdings" panose="05000000000000000000" pitchFamily="2" charset="2"/>
              <a:buChar char="q"/>
            </a:pPr>
            <a:r>
              <a:rPr lang="en-US" dirty="0"/>
              <a:t> 70% Training and 30% Test</a:t>
            </a:r>
          </a:p>
          <a:p>
            <a:pPr>
              <a:buFont typeface="Wingdings" panose="05000000000000000000" pitchFamily="2" charset="2"/>
              <a:buChar char="q"/>
            </a:pPr>
            <a:r>
              <a:rPr lang="en-US" dirty="0"/>
              <a:t> Only 500,000 trips were used from a total of 4.2M for modeling. </a:t>
            </a:r>
          </a:p>
          <a:p>
            <a:pPr>
              <a:buFont typeface="Wingdings" panose="05000000000000000000" pitchFamily="2" charset="2"/>
              <a:buChar char="q"/>
            </a:pPr>
            <a:r>
              <a:rPr lang="en-US" dirty="0"/>
              <a:t> The best model trained on this small sample was then used to make predictions on all the 4.2M trips.</a:t>
            </a:r>
          </a:p>
          <a:p>
            <a:endParaRPr lang="en-US" sz="2400" dirty="0"/>
          </a:p>
        </p:txBody>
      </p:sp>
      <p:sp>
        <p:nvSpPr>
          <p:cNvPr id="4" name="TextBox 3">
            <a:extLst>
              <a:ext uri="{FF2B5EF4-FFF2-40B4-BE49-F238E27FC236}">
                <a16:creationId xmlns:a16="http://schemas.microsoft.com/office/drawing/2014/main" id="{4F2D89E8-E26F-496C-A318-3406FB940199}"/>
              </a:ext>
            </a:extLst>
          </p:cNvPr>
          <p:cNvSpPr txBox="1"/>
          <p:nvPr/>
        </p:nvSpPr>
        <p:spPr>
          <a:xfrm>
            <a:off x="599440" y="5892800"/>
            <a:ext cx="10698480" cy="338554"/>
          </a:xfrm>
          <a:prstGeom prst="rect">
            <a:avLst/>
          </a:prstGeom>
          <a:noFill/>
        </p:spPr>
        <p:txBody>
          <a:bodyPr wrap="square" rtlCol="0">
            <a:spAutoFit/>
          </a:bodyPr>
          <a:lstStyle/>
          <a:p>
            <a:r>
              <a:rPr lang="en-US" sz="1600" dirty="0"/>
              <a:t>* For Elastic Net Regression only distance, hour and weekday variables were used.</a:t>
            </a:r>
          </a:p>
        </p:txBody>
      </p:sp>
    </p:spTree>
    <p:extLst>
      <p:ext uri="{BB962C8B-B14F-4D97-AF65-F5344CB8AC3E}">
        <p14:creationId xmlns:p14="http://schemas.microsoft.com/office/powerpoint/2010/main" val="2247817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109EF-71E6-4BE2-9CB0-425605E53CB6}"/>
              </a:ext>
            </a:extLst>
          </p:cNvPr>
          <p:cNvSpPr>
            <a:spLocks noGrp="1"/>
          </p:cNvSpPr>
          <p:nvPr>
            <p:ph type="title"/>
          </p:nvPr>
        </p:nvSpPr>
        <p:spPr>
          <a:xfrm>
            <a:off x="1097280" y="536786"/>
            <a:ext cx="10058400" cy="904240"/>
          </a:xfrm>
        </p:spPr>
        <p:txBody>
          <a:bodyPr/>
          <a:lstStyle/>
          <a:p>
            <a:r>
              <a:rPr lang="en-US" dirty="0"/>
              <a:t>Error Metrics</a:t>
            </a:r>
          </a:p>
        </p:txBody>
      </p:sp>
      <p:sp>
        <p:nvSpPr>
          <p:cNvPr id="3" name="Content Placeholder 2">
            <a:extLst>
              <a:ext uri="{FF2B5EF4-FFF2-40B4-BE49-F238E27FC236}">
                <a16:creationId xmlns:a16="http://schemas.microsoft.com/office/drawing/2014/main" id="{A50BF7C7-D258-480B-BF94-36EC47926EF5}"/>
              </a:ext>
            </a:extLst>
          </p:cNvPr>
          <p:cNvSpPr>
            <a:spLocks noGrp="1"/>
          </p:cNvSpPr>
          <p:nvPr>
            <p:ph idx="1"/>
          </p:nvPr>
        </p:nvSpPr>
        <p:spPr>
          <a:xfrm>
            <a:off x="1097280" y="1845734"/>
            <a:ext cx="10058400" cy="4023360"/>
          </a:xfrm>
        </p:spPr>
        <p:txBody>
          <a:bodyPr>
            <a:normAutofit/>
          </a:bodyPr>
          <a:lstStyle/>
          <a:p>
            <a:pPr>
              <a:buFont typeface="Wingdings" panose="05000000000000000000" pitchFamily="2" charset="2"/>
              <a:buChar char="q"/>
            </a:pPr>
            <a:r>
              <a:rPr lang="en-US" sz="2400" u="sng" dirty="0"/>
              <a:t>Main </a:t>
            </a:r>
          </a:p>
          <a:p>
            <a:pPr>
              <a:buFont typeface="Wingdings" panose="05000000000000000000" pitchFamily="2" charset="2"/>
              <a:buChar char="v"/>
            </a:pPr>
            <a:r>
              <a:rPr lang="en-US" sz="2400" dirty="0"/>
              <a:t>RMSLE* (Root Mean Squared Log Error)</a:t>
            </a:r>
          </a:p>
          <a:p>
            <a:pPr>
              <a:buFont typeface="Wingdings" panose="05000000000000000000" pitchFamily="2" charset="2"/>
              <a:buChar char="q"/>
            </a:pPr>
            <a:r>
              <a:rPr lang="en-US" sz="2400" dirty="0"/>
              <a:t> </a:t>
            </a:r>
            <a:r>
              <a:rPr lang="en-US" sz="2400" u="sng" dirty="0"/>
              <a:t>Others</a:t>
            </a:r>
          </a:p>
          <a:p>
            <a:pPr>
              <a:buFont typeface="Wingdings" panose="05000000000000000000" pitchFamily="2" charset="2"/>
              <a:buChar char="v"/>
            </a:pPr>
            <a:r>
              <a:rPr lang="en-US" sz="2400" dirty="0"/>
              <a:t>R2 score</a:t>
            </a:r>
          </a:p>
          <a:p>
            <a:pPr>
              <a:buFont typeface="Wingdings" panose="05000000000000000000" pitchFamily="2" charset="2"/>
              <a:buChar char="v"/>
            </a:pPr>
            <a:r>
              <a:rPr lang="en-US" sz="2400" dirty="0"/>
              <a:t> RMSE (Root Mean Square Error)</a:t>
            </a:r>
          </a:p>
          <a:p>
            <a:pPr>
              <a:buFont typeface="Wingdings" panose="05000000000000000000" pitchFamily="2" charset="2"/>
              <a:buChar char="v"/>
            </a:pPr>
            <a:r>
              <a:rPr lang="en-US" sz="2400" dirty="0"/>
              <a:t> MAE (Mean Absolute Error)</a:t>
            </a:r>
          </a:p>
          <a:p>
            <a:pPr>
              <a:buFont typeface="Wingdings" panose="05000000000000000000" pitchFamily="2" charset="2"/>
              <a:buChar char="v"/>
            </a:pPr>
            <a:r>
              <a:rPr lang="en-US" sz="2400" dirty="0"/>
              <a:t> MAPE (Mean Absolute Percentage Error)</a:t>
            </a:r>
          </a:p>
          <a:p>
            <a:pPr>
              <a:buFont typeface="Wingdings" panose="05000000000000000000" pitchFamily="2" charset="2"/>
              <a:buChar char="v"/>
            </a:pPr>
            <a:endParaRPr lang="en-US" sz="2400" dirty="0"/>
          </a:p>
        </p:txBody>
      </p:sp>
      <p:sp>
        <p:nvSpPr>
          <p:cNvPr id="4" name="TextBox 3">
            <a:extLst>
              <a:ext uri="{FF2B5EF4-FFF2-40B4-BE49-F238E27FC236}">
                <a16:creationId xmlns:a16="http://schemas.microsoft.com/office/drawing/2014/main" id="{399EFDB9-3ECE-4393-BC37-8FB09BC4559D}"/>
              </a:ext>
            </a:extLst>
          </p:cNvPr>
          <p:cNvSpPr txBox="1"/>
          <p:nvPr/>
        </p:nvSpPr>
        <p:spPr>
          <a:xfrm>
            <a:off x="0" y="5869094"/>
            <a:ext cx="11887200" cy="338554"/>
          </a:xfrm>
          <a:prstGeom prst="rect">
            <a:avLst/>
          </a:prstGeom>
          <a:noFill/>
        </p:spPr>
        <p:txBody>
          <a:bodyPr wrap="square" rtlCol="0">
            <a:spAutoFit/>
          </a:bodyPr>
          <a:lstStyle/>
          <a:p>
            <a:r>
              <a:rPr lang="en-US" sz="1600" dirty="0"/>
              <a:t>* RMSLE was used here as the determining metric because we didn’t want large errors to be significantly more penalized than smaller ones.</a:t>
            </a:r>
          </a:p>
        </p:txBody>
      </p:sp>
    </p:spTree>
    <p:extLst>
      <p:ext uri="{BB962C8B-B14F-4D97-AF65-F5344CB8AC3E}">
        <p14:creationId xmlns:p14="http://schemas.microsoft.com/office/powerpoint/2010/main" val="3149956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6D56B-46AD-430E-ADAD-0B5DB46EB8F3}"/>
              </a:ext>
            </a:extLst>
          </p:cNvPr>
          <p:cNvSpPr>
            <a:spLocks noGrp="1"/>
          </p:cNvSpPr>
          <p:nvPr>
            <p:ph type="title"/>
          </p:nvPr>
        </p:nvSpPr>
        <p:spPr>
          <a:xfrm>
            <a:off x="1066800" y="541866"/>
            <a:ext cx="10058400" cy="748454"/>
          </a:xfrm>
        </p:spPr>
        <p:txBody>
          <a:bodyPr/>
          <a:lstStyle/>
          <a:p>
            <a:r>
              <a:rPr lang="en-US" dirty="0"/>
              <a:t>Baseline to compare all models with</a:t>
            </a:r>
          </a:p>
        </p:txBody>
      </p:sp>
      <p:sp>
        <p:nvSpPr>
          <p:cNvPr id="3" name="Content Placeholder 2">
            <a:extLst>
              <a:ext uri="{FF2B5EF4-FFF2-40B4-BE49-F238E27FC236}">
                <a16:creationId xmlns:a16="http://schemas.microsoft.com/office/drawing/2014/main" id="{66575A87-3734-45B7-A34A-1BEB8A98E78A}"/>
              </a:ext>
            </a:extLst>
          </p:cNvPr>
          <p:cNvSpPr>
            <a:spLocks noGrp="1"/>
          </p:cNvSpPr>
          <p:nvPr>
            <p:ph idx="1"/>
          </p:nvPr>
        </p:nvSpPr>
        <p:spPr/>
        <p:txBody>
          <a:bodyPr/>
          <a:lstStyle/>
          <a:p>
            <a:pPr>
              <a:buFont typeface="Wingdings" panose="05000000000000000000" pitchFamily="2" charset="2"/>
              <a:buChar char="q"/>
            </a:pPr>
            <a:r>
              <a:rPr lang="en-US" dirty="0"/>
              <a:t> Baseline =&gt; assuming the average trip duration in the training data for all the trips in the test data.</a:t>
            </a:r>
          </a:p>
          <a:p>
            <a:pPr>
              <a:buFont typeface="Wingdings" panose="05000000000000000000" pitchFamily="2" charset="2"/>
              <a:buChar char="q"/>
            </a:pPr>
            <a:r>
              <a:rPr lang="en-US" dirty="0"/>
              <a:t> Performance on Test set:</a:t>
            </a:r>
          </a:p>
          <a:p>
            <a:pPr>
              <a:buFont typeface="Wingdings" panose="05000000000000000000" pitchFamily="2" charset="2"/>
              <a:buChar char="v"/>
            </a:pPr>
            <a:r>
              <a:rPr lang="en-US" dirty="0"/>
              <a:t>RMSE or Root mean squared error: 639.34</a:t>
            </a:r>
          </a:p>
          <a:p>
            <a:pPr>
              <a:buFont typeface="Wingdings" panose="05000000000000000000" pitchFamily="2" charset="2"/>
              <a:buChar char="v"/>
            </a:pPr>
            <a:r>
              <a:rPr lang="en-US" dirty="0"/>
              <a:t>RMSLE or Root mean squared log error: 0.77</a:t>
            </a:r>
          </a:p>
          <a:p>
            <a:pPr>
              <a:buFont typeface="Wingdings" panose="05000000000000000000" pitchFamily="2" charset="2"/>
              <a:buChar char="v"/>
            </a:pPr>
            <a:r>
              <a:rPr lang="en-US" dirty="0"/>
              <a:t>Variance score: -0.00</a:t>
            </a:r>
          </a:p>
          <a:p>
            <a:pPr>
              <a:buFont typeface="Wingdings" panose="05000000000000000000" pitchFamily="2" charset="2"/>
              <a:buChar char="v"/>
            </a:pPr>
            <a:r>
              <a:rPr lang="en-US" dirty="0"/>
              <a:t>Mean Absolute Error: 460.26</a:t>
            </a:r>
          </a:p>
          <a:p>
            <a:pPr>
              <a:buFont typeface="Wingdings" panose="05000000000000000000" pitchFamily="2" charset="2"/>
              <a:buChar char="v"/>
            </a:pPr>
            <a:r>
              <a:rPr lang="en-US" dirty="0"/>
              <a:t>Mean Absolute Percentage Error: 94.37 %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99466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14E3A-96B7-4817-993B-8C222F68DB35}"/>
              </a:ext>
            </a:extLst>
          </p:cNvPr>
          <p:cNvSpPr>
            <a:spLocks noGrp="1"/>
          </p:cNvSpPr>
          <p:nvPr>
            <p:ph type="title"/>
          </p:nvPr>
        </p:nvSpPr>
        <p:spPr>
          <a:xfrm>
            <a:off x="1066800" y="470746"/>
            <a:ext cx="10058400" cy="748454"/>
          </a:xfrm>
        </p:spPr>
        <p:txBody>
          <a:bodyPr/>
          <a:lstStyle/>
          <a:p>
            <a:r>
              <a:rPr lang="en-US" dirty="0"/>
              <a:t>Elastic Net Linear Regression</a:t>
            </a:r>
          </a:p>
        </p:txBody>
      </p:sp>
      <p:sp>
        <p:nvSpPr>
          <p:cNvPr id="3" name="Content Placeholder 2">
            <a:extLst>
              <a:ext uri="{FF2B5EF4-FFF2-40B4-BE49-F238E27FC236}">
                <a16:creationId xmlns:a16="http://schemas.microsoft.com/office/drawing/2014/main" id="{C737A795-D1E0-4F0E-9023-5680555E83AB}"/>
              </a:ext>
            </a:extLst>
          </p:cNvPr>
          <p:cNvSpPr>
            <a:spLocks noGrp="1"/>
          </p:cNvSpPr>
          <p:nvPr>
            <p:ph idx="1"/>
          </p:nvPr>
        </p:nvSpPr>
        <p:spPr/>
        <p:txBody>
          <a:bodyPr/>
          <a:lstStyle/>
          <a:p>
            <a:pPr>
              <a:buFont typeface="Wingdings" panose="05000000000000000000" pitchFamily="2" charset="2"/>
              <a:buChar char="q"/>
            </a:pPr>
            <a:r>
              <a:rPr lang="en-US" dirty="0"/>
              <a:t> Only distance, hour and weekday features used because other variables will require significant data pre-processing since most of them are categorical or non-linear. </a:t>
            </a:r>
          </a:p>
          <a:p>
            <a:pPr>
              <a:buFont typeface="Wingdings" panose="05000000000000000000" pitchFamily="2" charset="2"/>
              <a:buChar char="q"/>
            </a:pPr>
            <a:r>
              <a:rPr lang="en-US" dirty="0"/>
              <a:t> Hour and Weekday converted to smooth functions using Fourier Transform.</a:t>
            </a:r>
          </a:p>
          <a:p>
            <a:pPr>
              <a:buFont typeface="Wingdings" panose="05000000000000000000" pitchFamily="2" charset="2"/>
              <a:buChar char="q"/>
            </a:pPr>
            <a:r>
              <a:rPr lang="en-US" dirty="0"/>
              <a:t> Error metrics for model Tuned Elastic Net on Test set:</a:t>
            </a:r>
          </a:p>
          <a:p>
            <a:pPr>
              <a:buFont typeface="Wingdings" panose="05000000000000000000" pitchFamily="2" charset="2"/>
              <a:buChar char="v"/>
            </a:pPr>
            <a:r>
              <a:rPr lang="en-US" dirty="0"/>
              <a:t>RMSE or Root mean squared error: 383.49</a:t>
            </a:r>
          </a:p>
          <a:p>
            <a:pPr>
              <a:buFont typeface="Wingdings" panose="05000000000000000000" pitchFamily="2" charset="2"/>
              <a:buChar char="v"/>
            </a:pPr>
            <a:r>
              <a:rPr lang="en-US" dirty="0"/>
              <a:t>RMSLE or Root mean squared log error: 0.49</a:t>
            </a:r>
          </a:p>
          <a:p>
            <a:pPr>
              <a:buFont typeface="Wingdings" panose="05000000000000000000" pitchFamily="2" charset="2"/>
              <a:buChar char="v"/>
            </a:pPr>
            <a:r>
              <a:rPr lang="en-US" dirty="0"/>
              <a:t>Variance score: 0.64</a:t>
            </a:r>
          </a:p>
          <a:p>
            <a:pPr>
              <a:buFont typeface="Wingdings" panose="05000000000000000000" pitchFamily="2" charset="2"/>
              <a:buChar char="v"/>
            </a:pPr>
            <a:r>
              <a:rPr lang="en-US" dirty="0"/>
              <a:t>Mean Absolute Error: 266.99</a:t>
            </a:r>
          </a:p>
          <a:p>
            <a:pPr>
              <a:buFont typeface="Wingdings" panose="05000000000000000000" pitchFamily="2" charset="2"/>
              <a:buChar char="v"/>
            </a:pPr>
            <a:r>
              <a:rPr lang="en-US" dirty="0"/>
              <a:t>Mean Absolute Percentage Error: 47.76 %</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1938282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223960-8C53-42CA-866D-D878E3BBC069}"/>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5600">
                <a:solidFill>
                  <a:schemeClr val="tx1">
                    <a:lumMod val="85000"/>
                    <a:lumOff val="15000"/>
                  </a:schemeClr>
                </a:solidFill>
              </a:rPr>
              <a:t>Elastic Net Linear Regression Plots</a:t>
            </a:r>
          </a:p>
        </p:txBody>
      </p:sp>
      <p:pic>
        <p:nvPicPr>
          <p:cNvPr id="4" name="Content Placeholder 3" descr="C:\Users\ppawar\AppData\Local\Microsoft\Windows\INetCache\Content.MSO\26578B.tmp">
            <a:extLst>
              <a:ext uri="{FF2B5EF4-FFF2-40B4-BE49-F238E27FC236}">
                <a16:creationId xmlns:a16="http://schemas.microsoft.com/office/drawing/2014/main" id="{52A39E1D-340C-4A42-A4F7-24A19525CF54}"/>
              </a:ext>
            </a:extLst>
          </p:cNvPr>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bwMode="auto">
          <a:xfrm>
            <a:off x="706723" y="284701"/>
            <a:ext cx="7118020" cy="5980633"/>
          </a:xfrm>
          <a:prstGeom prst="rect">
            <a:avLst/>
          </a:prstGeom>
          <a:noFill/>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02350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F4F79-8DC8-44D2-B680-BCA3F47A130F}"/>
              </a:ext>
            </a:extLst>
          </p:cNvPr>
          <p:cNvSpPr>
            <a:spLocks noGrp="1"/>
          </p:cNvSpPr>
          <p:nvPr>
            <p:ph type="title"/>
          </p:nvPr>
        </p:nvSpPr>
        <p:spPr>
          <a:xfrm>
            <a:off x="1066800" y="511386"/>
            <a:ext cx="10058400" cy="748454"/>
          </a:xfrm>
        </p:spPr>
        <p:txBody>
          <a:bodyPr/>
          <a:lstStyle/>
          <a:p>
            <a:r>
              <a:rPr lang="en-US" dirty="0"/>
              <a:t>Random Forest</a:t>
            </a:r>
          </a:p>
        </p:txBody>
      </p:sp>
      <p:sp>
        <p:nvSpPr>
          <p:cNvPr id="3" name="Content Placeholder 2">
            <a:extLst>
              <a:ext uri="{FF2B5EF4-FFF2-40B4-BE49-F238E27FC236}">
                <a16:creationId xmlns:a16="http://schemas.microsoft.com/office/drawing/2014/main" id="{85A30961-B221-40AB-9A92-C4FD1E3B31E9}"/>
              </a:ext>
            </a:extLst>
          </p:cNvPr>
          <p:cNvSpPr>
            <a:spLocks noGrp="1"/>
          </p:cNvSpPr>
          <p:nvPr>
            <p:ph idx="1"/>
          </p:nvPr>
        </p:nvSpPr>
        <p:spPr>
          <a:xfrm>
            <a:off x="1066800" y="2038774"/>
            <a:ext cx="10058400" cy="4023360"/>
          </a:xfrm>
        </p:spPr>
        <p:txBody>
          <a:bodyPr/>
          <a:lstStyle/>
          <a:p>
            <a:pPr>
              <a:buFont typeface="Wingdings" panose="05000000000000000000" pitchFamily="2" charset="2"/>
              <a:buChar char="q"/>
            </a:pPr>
            <a:r>
              <a:rPr lang="en-US" dirty="0"/>
              <a:t> The error metrics for the tuned RF using all the variables are as below:</a:t>
            </a:r>
          </a:p>
          <a:p>
            <a:pPr>
              <a:buFont typeface="Wingdings" panose="05000000000000000000" pitchFamily="2" charset="2"/>
              <a:buChar char="v"/>
            </a:pPr>
            <a:r>
              <a:rPr lang="en-US" dirty="0"/>
              <a:t>RMSE or Root mean squared error: 334.61</a:t>
            </a:r>
          </a:p>
          <a:p>
            <a:pPr>
              <a:buFont typeface="Wingdings" panose="05000000000000000000" pitchFamily="2" charset="2"/>
              <a:buChar char="v"/>
            </a:pPr>
            <a:r>
              <a:rPr lang="en-US" dirty="0"/>
              <a:t>RMSLE or Root mean squared log error: 0.39</a:t>
            </a:r>
          </a:p>
          <a:p>
            <a:pPr>
              <a:buFont typeface="Wingdings" panose="05000000000000000000" pitchFamily="2" charset="2"/>
              <a:buChar char="v"/>
            </a:pPr>
            <a:r>
              <a:rPr lang="en-US" dirty="0"/>
              <a:t>Variance score: 0.73</a:t>
            </a:r>
          </a:p>
          <a:p>
            <a:pPr>
              <a:buFont typeface="Wingdings" panose="05000000000000000000" pitchFamily="2" charset="2"/>
              <a:buChar char="v"/>
            </a:pPr>
            <a:r>
              <a:rPr lang="en-US" dirty="0"/>
              <a:t>Mean Absolute Error: 225.01</a:t>
            </a:r>
          </a:p>
          <a:p>
            <a:pPr>
              <a:buFont typeface="Wingdings" panose="05000000000000000000" pitchFamily="2" charset="2"/>
              <a:buChar char="v"/>
            </a:pPr>
            <a:r>
              <a:rPr lang="en-US" dirty="0"/>
              <a:t>Mean Absolute Percentage Error: 34.82 %</a:t>
            </a:r>
          </a:p>
          <a:p>
            <a:pPr marL="0" indent="0">
              <a:buNone/>
            </a:pPr>
            <a:endParaRPr lang="en-US" dirty="0"/>
          </a:p>
        </p:txBody>
      </p:sp>
    </p:spTree>
    <p:extLst>
      <p:ext uri="{BB962C8B-B14F-4D97-AF65-F5344CB8AC3E}">
        <p14:creationId xmlns:p14="http://schemas.microsoft.com/office/powerpoint/2010/main" val="1910786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915AAE-333F-45E6-9D76-0FDB767A74BB}"/>
              </a:ext>
            </a:extLst>
          </p:cNvPr>
          <p:cNvSpPr>
            <a:spLocks noGrp="1"/>
          </p:cNvSpPr>
          <p:nvPr>
            <p:ph type="title"/>
          </p:nvPr>
        </p:nvSpPr>
        <p:spPr>
          <a:xfrm>
            <a:off x="7859485" y="634946"/>
            <a:ext cx="3690257" cy="1450757"/>
          </a:xfrm>
        </p:spPr>
        <p:txBody>
          <a:bodyPr>
            <a:normAutofit/>
          </a:bodyPr>
          <a:lstStyle/>
          <a:p>
            <a:r>
              <a:rPr lang="en-US" dirty="0"/>
              <a:t>Random Forest Plots</a:t>
            </a:r>
          </a:p>
        </p:txBody>
      </p:sp>
      <p:pic>
        <p:nvPicPr>
          <p:cNvPr id="4" name="Content Placeholder 3" descr="C:\Users\ppawar\AppData\Local\Microsoft\Windows\INetCache\Content.MSO\A4E83EAD.tmp">
            <a:extLst>
              <a:ext uri="{FF2B5EF4-FFF2-40B4-BE49-F238E27FC236}">
                <a16:creationId xmlns:a16="http://schemas.microsoft.com/office/drawing/2014/main" id="{D8FD21F6-0279-4DCF-8644-AD364FAB3438}"/>
              </a:ext>
            </a:extLst>
          </p:cNvPr>
          <p:cNvPicPr>
            <a:picLocks/>
          </p:cNvPicPr>
          <p:nvPr/>
        </p:nvPicPr>
        <p:blipFill>
          <a:blip r:embed="rId2">
            <a:extLst>
              <a:ext uri="{28A0092B-C50C-407E-A947-70E740481C1C}">
                <a14:useLocalDpi xmlns:a14="http://schemas.microsoft.com/office/drawing/2010/main" val="0"/>
              </a:ext>
            </a:extLst>
          </a:blip>
          <a:stretch>
            <a:fillRect/>
          </a:stretch>
        </p:blipFill>
        <p:spPr bwMode="auto">
          <a:xfrm>
            <a:off x="-10160" y="304800"/>
            <a:ext cx="6563360" cy="5791173"/>
          </a:xfrm>
          <a:prstGeom prst="rect">
            <a:avLst/>
          </a:prstGeom>
          <a:noFill/>
        </p:spPr>
      </p:pic>
      <p:cxnSp>
        <p:nvCxnSpPr>
          <p:cNvPr id="13" name="Straight Connector 1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FF0D0BB7-77F7-4953-968D-57EA8944F974}"/>
              </a:ext>
            </a:extLst>
          </p:cNvPr>
          <p:cNvSpPr>
            <a:spLocks noGrp="1"/>
          </p:cNvSpPr>
          <p:nvPr>
            <p:ph idx="1"/>
          </p:nvPr>
        </p:nvSpPr>
        <p:spPr>
          <a:xfrm>
            <a:off x="7859485" y="2198914"/>
            <a:ext cx="3690257" cy="3670180"/>
          </a:xfrm>
        </p:spPr>
        <p:txBody>
          <a:bodyPr>
            <a:normAutofit/>
          </a:bodyPr>
          <a:lstStyle/>
          <a:p>
            <a:pPr>
              <a:buFont typeface="Wingdings" panose="05000000000000000000" pitchFamily="2" charset="2"/>
              <a:buChar char="§"/>
            </a:pPr>
            <a:r>
              <a:rPr lang="en-US" dirty="0"/>
              <a:t> The flattening in the predicted values is a result of how the values are averaged over all the leaf nodes for a regression tree.</a:t>
            </a:r>
          </a:p>
          <a:p>
            <a:pPr>
              <a:buFont typeface="Wingdings" panose="05000000000000000000" pitchFamily="2" charset="2"/>
              <a:buChar char="§"/>
            </a:pPr>
            <a:r>
              <a:rPr lang="en-US" dirty="0"/>
              <a:t> If we allow the trees to grow deeper (increase max_depth), then this behavior is not observed, but it results in overfitting. </a:t>
            </a:r>
          </a:p>
        </p:txBody>
      </p:sp>
      <p:sp>
        <p:nvSpPr>
          <p:cNvPr id="15" name="Rectangle 14">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4664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D4265-755E-400E-AC0C-B47CDDC6E986}"/>
              </a:ext>
            </a:extLst>
          </p:cNvPr>
          <p:cNvSpPr>
            <a:spLocks noGrp="1"/>
          </p:cNvSpPr>
          <p:nvPr>
            <p:ph type="title"/>
          </p:nvPr>
        </p:nvSpPr>
        <p:spPr>
          <a:xfrm>
            <a:off x="1097280" y="396240"/>
            <a:ext cx="10058400" cy="894080"/>
          </a:xfrm>
        </p:spPr>
        <p:txBody>
          <a:bodyPr/>
          <a:lstStyle/>
          <a:p>
            <a:r>
              <a:rPr lang="en-US" dirty="0"/>
              <a:t>XGBoost</a:t>
            </a:r>
          </a:p>
        </p:txBody>
      </p:sp>
      <p:sp>
        <p:nvSpPr>
          <p:cNvPr id="3" name="Content Placeholder 2">
            <a:extLst>
              <a:ext uri="{FF2B5EF4-FFF2-40B4-BE49-F238E27FC236}">
                <a16:creationId xmlns:a16="http://schemas.microsoft.com/office/drawing/2014/main" id="{C49A8B46-A39C-4A83-8360-B68F298B1DC8}"/>
              </a:ext>
            </a:extLst>
          </p:cNvPr>
          <p:cNvSpPr>
            <a:spLocks noGrp="1"/>
          </p:cNvSpPr>
          <p:nvPr>
            <p:ph idx="1"/>
          </p:nvPr>
        </p:nvSpPr>
        <p:spPr/>
        <p:txBody>
          <a:bodyPr/>
          <a:lstStyle/>
          <a:p>
            <a:pPr>
              <a:buFont typeface="Wingdings" panose="05000000000000000000" pitchFamily="2" charset="2"/>
              <a:buChar char="q"/>
            </a:pPr>
            <a:r>
              <a:rPr lang="en-US" dirty="0"/>
              <a:t> Error metrics for model Tuned XGBoost</a:t>
            </a:r>
          </a:p>
          <a:p>
            <a:pPr>
              <a:buFont typeface="Wingdings" panose="05000000000000000000" pitchFamily="2" charset="2"/>
              <a:buChar char="v"/>
            </a:pPr>
            <a:r>
              <a:rPr lang="en-US" dirty="0"/>
              <a:t>RMSE or Root mean squared error: 272.96</a:t>
            </a:r>
          </a:p>
          <a:p>
            <a:pPr>
              <a:buFont typeface="Wingdings" panose="05000000000000000000" pitchFamily="2" charset="2"/>
              <a:buChar char="v"/>
            </a:pPr>
            <a:r>
              <a:rPr lang="en-US" dirty="0"/>
              <a:t>RMSLE or Root mean squared log error: 0.32</a:t>
            </a:r>
          </a:p>
          <a:p>
            <a:pPr>
              <a:buFont typeface="Wingdings" panose="05000000000000000000" pitchFamily="2" charset="2"/>
              <a:buChar char="v"/>
            </a:pPr>
            <a:r>
              <a:rPr lang="en-US" dirty="0"/>
              <a:t>Variance score: 0.82</a:t>
            </a:r>
          </a:p>
          <a:p>
            <a:pPr>
              <a:buFont typeface="Wingdings" panose="05000000000000000000" pitchFamily="2" charset="2"/>
              <a:buChar char="v"/>
            </a:pPr>
            <a:r>
              <a:rPr lang="en-US" dirty="0"/>
              <a:t>Mean Absolute Error: 178.24</a:t>
            </a:r>
          </a:p>
          <a:p>
            <a:pPr>
              <a:buFont typeface="Wingdings" panose="05000000000000000000" pitchFamily="2" charset="2"/>
              <a:buChar char="v"/>
            </a:pPr>
            <a:r>
              <a:rPr lang="en-US" dirty="0"/>
              <a:t>Mean Absolute Percentage Error: 26.38 %</a:t>
            </a:r>
          </a:p>
          <a:p>
            <a:endParaRPr lang="en-US" dirty="0"/>
          </a:p>
        </p:txBody>
      </p:sp>
    </p:spTree>
    <p:extLst>
      <p:ext uri="{BB962C8B-B14F-4D97-AF65-F5344CB8AC3E}">
        <p14:creationId xmlns:p14="http://schemas.microsoft.com/office/powerpoint/2010/main" val="35991992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B78C2F-7690-481B-AA4D-3E2BBED59BA5}"/>
              </a:ext>
            </a:extLst>
          </p:cNvPr>
          <p:cNvSpPr>
            <a:spLocks noGrp="1"/>
          </p:cNvSpPr>
          <p:nvPr>
            <p:ph type="title"/>
          </p:nvPr>
        </p:nvSpPr>
        <p:spPr>
          <a:xfrm>
            <a:off x="7859485" y="634946"/>
            <a:ext cx="3690257" cy="1450757"/>
          </a:xfrm>
        </p:spPr>
        <p:txBody>
          <a:bodyPr>
            <a:normAutofit/>
          </a:bodyPr>
          <a:lstStyle/>
          <a:p>
            <a:r>
              <a:rPr lang="en-US" dirty="0"/>
              <a:t>XGBoost Plots</a:t>
            </a:r>
          </a:p>
        </p:txBody>
      </p:sp>
      <p:pic>
        <p:nvPicPr>
          <p:cNvPr id="4" name="Content Placeholder 3" descr="C:\Users\ppawar\AppData\Local\Microsoft\Windows\INetCache\Content.MSO\1980ADB3.tmp">
            <a:extLst>
              <a:ext uri="{FF2B5EF4-FFF2-40B4-BE49-F238E27FC236}">
                <a16:creationId xmlns:a16="http://schemas.microsoft.com/office/drawing/2014/main" id="{CB6701E9-F9EF-4AFC-92DC-536118EF425E}"/>
              </a:ext>
            </a:extLst>
          </p:cNvPr>
          <p:cNvPicPr>
            <a:picLocks/>
          </p:cNvPicPr>
          <p:nvPr/>
        </p:nvPicPr>
        <p:blipFill>
          <a:blip r:embed="rId2">
            <a:extLst>
              <a:ext uri="{28A0092B-C50C-407E-A947-70E740481C1C}">
                <a14:useLocalDpi xmlns:a14="http://schemas.microsoft.com/office/drawing/2010/main" val="0"/>
              </a:ext>
            </a:extLst>
          </a:blip>
          <a:stretch>
            <a:fillRect/>
          </a:stretch>
        </p:blipFill>
        <p:spPr bwMode="auto">
          <a:xfrm>
            <a:off x="642258" y="278574"/>
            <a:ext cx="6298583" cy="5898931"/>
          </a:xfrm>
          <a:prstGeom prst="rect">
            <a:avLst/>
          </a:prstGeom>
          <a:noFill/>
        </p:spPr>
      </p:pic>
      <p:cxnSp>
        <p:nvCxnSpPr>
          <p:cNvPr id="13" name="Straight Connector 1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88AAB735-8537-4170-88B8-B0F3107BDBED}"/>
              </a:ext>
            </a:extLst>
          </p:cNvPr>
          <p:cNvSpPr>
            <a:spLocks noGrp="1"/>
          </p:cNvSpPr>
          <p:nvPr>
            <p:ph idx="1"/>
          </p:nvPr>
        </p:nvSpPr>
        <p:spPr>
          <a:xfrm>
            <a:off x="7859485" y="2198914"/>
            <a:ext cx="3690257" cy="3670180"/>
          </a:xfrm>
        </p:spPr>
        <p:txBody>
          <a:bodyPr>
            <a:normAutofit/>
          </a:bodyPr>
          <a:lstStyle/>
          <a:p>
            <a:pPr>
              <a:buFont typeface="Wingdings" panose="05000000000000000000" pitchFamily="2" charset="2"/>
              <a:buChar char="§"/>
            </a:pPr>
            <a:r>
              <a:rPr lang="en-US" dirty="0"/>
              <a:t> The model doesn’t overfit as training and test R2 scores both were 0.82. </a:t>
            </a:r>
          </a:p>
          <a:p>
            <a:pPr>
              <a:buFont typeface="Wingdings" panose="05000000000000000000" pitchFamily="2" charset="2"/>
              <a:buChar char="§"/>
            </a:pPr>
            <a:r>
              <a:rPr lang="en-US" dirty="0"/>
              <a:t> Figure on left shows that the entire range of the trip duration was predicted very well except a few extreme values. </a:t>
            </a:r>
          </a:p>
        </p:txBody>
      </p:sp>
      <p:sp>
        <p:nvSpPr>
          <p:cNvPr id="15" name="Rectangle 14">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34859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799AF-DB90-46A2-9F40-63FC8E9E77FA}"/>
              </a:ext>
            </a:extLst>
          </p:cNvPr>
          <p:cNvSpPr>
            <a:spLocks noGrp="1"/>
          </p:cNvSpPr>
          <p:nvPr>
            <p:ph type="title"/>
          </p:nvPr>
        </p:nvSpPr>
        <p:spPr>
          <a:xfrm>
            <a:off x="1097280" y="435935"/>
            <a:ext cx="10058400" cy="950551"/>
          </a:xfrm>
        </p:spPr>
        <p:txBody>
          <a:bodyPr/>
          <a:lstStyle/>
          <a:p>
            <a:r>
              <a:rPr lang="en-US" dirty="0"/>
              <a:t>XGBoost Feature Importance</a:t>
            </a:r>
          </a:p>
        </p:txBody>
      </p:sp>
      <p:pic>
        <p:nvPicPr>
          <p:cNvPr id="4" name="Content Placeholder 3" descr="C:\Users\ppawar\AppData\Local\Microsoft\Windows\INetCache\Content.MSO\B9D4B4AF.tmp">
            <a:extLst>
              <a:ext uri="{FF2B5EF4-FFF2-40B4-BE49-F238E27FC236}">
                <a16:creationId xmlns:a16="http://schemas.microsoft.com/office/drawing/2014/main" id="{C8D345B0-6F03-4F52-8A19-B783A2902EA1}"/>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8874" y="1734503"/>
            <a:ext cx="10239285" cy="4534217"/>
          </a:xfrm>
          <a:prstGeom prst="rect">
            <a:avLst/>
          </a:prstGeom>
          <a:noFill/>
          <a:ln>
            <a:noFill/>
          </a:ln>
        </p:spPr>
      </p:pic>
    </p:spTree>
    <p:extLst>
      <p:ext uri="{BB962C8B-B14F-4D97-AF65-F5344CB8AC3E}">
        <p14:creationId xmlns:p14="http://schemas.microsoft.com/office/powerpoint/2010/main" val="1794410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66F4-2A0F-415E-B732-57DF0C3299D5}"/>
              </a:ext>
            </a:extLst>
          </p:cNvPr>
          <p:cNvSpPr>
            <a:spLocks noGrp="1"/>
          </p:cNvSpPr>
          <p:nvPr>
            <p:ph type="title"/>
          </p:nvPr>
        </p:nvSpPr>
        <p:spPr/>
        <p:txBody>
          <a:bodyPr/>
          <a:lstStyle/>
          <a:p>
            <a:r>
              <a:rPr lang="en-US" dirty="0"/>
              <a:t>XGBoost Feature Importance Using Permutation </a:t>
            </a:r>
          </a:p>
        </p:txBody>
      </p:sp>
      <p:pic>
        <p:nvPicPr>
          <p:cNvPr id="4" name="Content Placeholder 3" descr="C:\Users\ppawar\AppData\Local\Microsoft\Windows\INetCache\Content.MSO\5DBB9195.tmp">
            <a:extLst>
              <a:ext uri="{FF2B5EF4-FFF2-40B4-BE49-F238E27FC236}">
                <a16:creationId xmlns:a16="http://schemas.microsoft.com/office/drawing/2014/main" id="{8B22D1D7-0A44-4AC8-962B-2BD5D7DD3BDE}"/>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9120" y="1737360"/>
            <a:ext cx="10235232" cy="4676457"/>
          </a:xfrm>
          <a:prstGeom prst="rect">
            <a:avLst/>
          </a:prstGeom>
          <a:noFill/>
          <a:ln>
            <a:noFill/>
          </a:ln>
        </p:spPr>
      </p:pic>
    </p:spTree>
    <p:extLst>
      <p:ext uri="{BB962C8B-B14F-4D97-AF65-F5344CB8AC3E}">
        <p14:creationId xmlns:p14="http://schemas.microsoft.com/office/powerpoint/2010/main" val="2434877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07A3B-063E-4B5E-9F04-C7A88BA72243}"/>
              </a:ext>
            </a:extLst>
          </p:cNvPr>
          <p:cNvSpPr>
            <a:spLocks noGrp="1"/>
          </p:cNvSpPr>
          <p:nvPr>
            <p:ph type="title"/>
          </p:nvPr>
        </p:nvSpPr>
        <p:spPr/>
        <p:txBody>
          <a:bodyPr/>
          <a:lstStyle/>
          <a:p>
            <a:r>
              <a:rPr lang="en-US" dirty="0"/>
              <a:t>Trained XGBoost model on the entire dataset (~4M taxi rides)</a:t>
            </a:r>
          </a:p>
        </p:txBody>
      </p:sp>
      <p:sp>
        <p:nvSpPr>
          <p:cNvPr id="3" name="Content Placeholder 2">
            <a:extLst>
              <a:ext uri="{FF2B5EF4-FFF2-40B4-BE49-F238E27FC236}">
                <a16:creationId xmlns:a16="http://schemas.microsoft.com/office/drawing/2014/main" id="{976A275B-0345-494E-ADCA-4C57DA6B86CD}"/>
              </a:ext>
            </a:extLst>
          </p:cNvPr>
          <p:cNvSpPr>
            <a:spLocks noGrp="1"/>
          </p:cNvSpPr>
          <p:nvPr>
            <p:ph idx="1"/>
          </p:nvPr>
        </p:nvSpPr>
        <p:spPr>
          <a:xfrm>
            <a:off x="1097280" y="2130214"/>
            <a:ext cx="10058400" cy="4023360"/>
          </a:xfrm>
        </p:spPr>
        <p:txBody>
          <a:bodyPr/>
          <a:lstStyle/>
          <a:p>
            <a:pPr>
              <a:buFont typeface="Wingdings" panose="05000000000000000000" pitchFamily="2" charset="2"/>
              <a:buChar char="q"/>
            </a:pPr>
            <a:r>
              <a:rPr lang="en-US" dirty="0"/>
              <a:t> Error metrics for model Tuned XGBoost on entire dataset</a:t>
            </a:r>
          </a:p>
          <a:p>
            <a:pPr>
              <a:buFont typeface="Wingdings" panose="05000000000000000000" pitchFamily="2" charset="2"/>
              <a:buChar char="v"/>
            </a:pPr>
            <a:r>
              <a:rPr lang="en-US" dirty="0"/>
              <a:t>RMSE or Root mean squared error: 272.42</a:t>
            </a:r>
          </a:p>
          <a:p>
            <a:pPr>
              <a:buFont typeface="Wingdings" panose="05000000000000000000" pitchFamily="2" charset="2"/>
              <a:buChar char="v"/>
            </a:pPr>
            <a:r>
              <a:rPr lang="en-US" dirty="0"/>
              <a:t>RMSLE or Root mean squared log error: 0.33</a:t>
            </a:r>
          </a:p>
          <a:p>
            <a:pPr>
              <a:buFont typeface="Wingdings" panose="05000000000000000000" pitchFamily="2" charset="2"/>
              <a:buChar char="v"/>
            </a:pPr>
            <a:r>
              <a:rPr lang="en-US" dirty="0"/>
              <a:t>Variance score: 0.82</a:t>
            </a:r>
          </a:p>
          <a:p>
            <a:pPr>
              <a:buFont typeface="Wingdings" panose="05000000000000000000" pitchFamily="2" charset="2"/>
              <a:buChar char="v"/>
            </a:pPr>
            <a:r>
              <a:rPr lang="en-US" dirty="0"/>
              <a:t>Mean Absolute Error: 178.12</a:t>
            </a:r>
          </a:p>
          <a:p>
            <a:pPr>
              <a:buFont typeface="Wingdings" panose="05000000000000000000" pitchFamily="2" charset="2"/>
              <a:buChar char="v"/>
            </a:pPr>
            <a:r>
              <a:rPr lang="en-US" dirty="0"/>
              <a:t>Mean Absolute Percentage Error: 26.34 %</a:t>
            </a:r>
          </a:p>
          <a:p>
            <a:endParaRPr lang="en-US" dirty="0"/>
          </a:p>
        </p:txBody>
      </p:sp>
    </p:spTree>
    <p:extLst>
      <p:ext uri="{BB962C8B-B14F-4D97-AF65-F5344CB8AC3E}">
        <p14:creationId xmlns:p14="http://schemas.microsoft.com/office/powerpoint/2010/main" val="3476929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60078D-31D5-414A-9455-0545EA1EBD59}"/>
              </a:ext>
            </a:extLst>
          </p:cNvPr>
          <p:cNvSpPr>
            <a:spLocks noGrp="1"/>
          </p:cNvSpPr>
          <p:nvPr>
            <p:ph type="title"/>
          </p:nvPr>
        </p:nvSpPr>
        <p:spPr>
          <a:xfrm>
            <a:off x="7859485" y="634946"/>
            <a:ext cx="3690257" cy="1450757"/>
          </a:xfrm>
        </p:spPr>
        <p:txBody>
          <a:bodyPr>
            <a:normAutofit/>
          </a:bodyPr>
          <a:lstStyle/>
          <a:p>
            <a:r>
              <a:rPr lang="en-US" dirty="0"/>
              <a:t>Comparing the Models</a:t>
            </a:r>
          </a:p>
        </p:txBody>
      </p:sp>
      <p:pic>
        <p:nvPicPr>
          <p:cNvPr id="4" name="Content Placeholder 3">
            <a:extLst>
              <a:ext uri="{FF2B5EF4-FFF2-40B4-BE49-F238E27FC236}">
                <a16:creationId xmlns:a16="http://schemas.microsoft.com/office/drawing/2014/main" id="{9295E45F-16F8-4C24-A295-FAF2A1388829}"/>
              </a:ext>
            </a:extLst>
          </p:cNvPr>
          <p:cNvPicPr>
            <a:picLocks/>
          </p:cNvPicPr>
          <p:nvPr/>
        </p:nvPicPr>
        <p:blipFill>
          <a:blip r:embed="rId2"/>
          <a:stretch>
            <a:fillRect/>
          </a:stretch>
        </p:blipFill>
        <p:spPr>
          <a:xfrm>
            <a:off x="253135" y="2198915"/>
            <a:ext cx="7448145" cy="2352766"/>
          </a:xfrm>
          <a:prstGeom prst="rect">
            <a:avLst/>
          </a:prstGeom>
        </p:spPr>
      </p:pic>
      <p:cxnSp>
        <p:nvCxnSpPr>
          <p:cNvPr id="13" name="Straight Connector 1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57D5C985-9CC3-4E14-9173-AF7CDF121260}"/>
              </a:ext>
            </a:extLst>
          </p:cNvPr>
          <p:cNvSpPr>
            <a:spLocks noGrp="1"/>
          </p:cNvSpPr>
          <p:nvPr>
            <p:ph idx="1"/>
          </p:nvPr>
        </p:nvSpPr>
        <p:spPr>
          <a:xfrm>
            <a:off x="7859485" y="2198914"/>
            <a:ext cx="3690257" cy="3670180"/>
          </a:xfrm>
        </p:spPr>
        <p:txBody>
          <a:bodyPr>
            <a:normAutofit/>
          </a:bodyPr>
          <a:lstStyle/>
          <a:p>
            <a:pPr>
              <a:buFont typeface="Wingdings" panose="05000000000000000000" pitchFamily="2" charset="2"/>
              <a:buChar char="q"/>
            </a:pPr>
            <a:r>
              <a:rPr lang="en-US" dirty="0"/>
              <a:t> XGBoost wins here with better performance across all error metrics used. </a:t>
            </a:r>
          </a:p>
          <a:p>
            <a:pPr>
              <a:buFont typeface="Wingdings" panose="05000000000000000000" pitchFamily="2" charset="2"/>
              <a:buChar char="q"/>
            </a:pPr>
            <a:r>
              <a:rPr lang="en-US" dirty="0"/>
              <a:t> It also generalizes well over the entire 4M dataset even if fit only on 500k rows. </a:t>
            </a:r>
          </a:p>
        </p:txBody>
      </p:sp>
      <p:sp>
        <p:nvSpPr>
          <p:cNvPr id="15" name="Rectangle 14">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28051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8CC7A7-3B17-4077-A776-14FE899F1B79}"/>
              </a:ext>
            </a:extLst>
          </p:cNvPr>
          <p:cNvSpPr>
            <a:spLocks noGrp="1"/>
          </p:cNvSpPr>
          <p:nvPr>
            <p:ph type="title"/>
          </p:nvPr>
        </p:nvSpPr>
        <p:spPr>
          <a:xfrm>
            <a:off x="5656943" y="432245"/>
            <a:ext cx="6138817" cy="1427036"/>
          </a:xfrm>
        </p:spPr>
        <p:txBody>
          <a:bodyPr>
            <a:normAutofit/>
          </a:bodyPr>
          <a:lstStyle/>
          <a:p>
            <a:r>
              <a:rPr lang="en-US" dirty="0"/>
              <a:t>What the errors mean?</a:t>
            </a:r>
          </a:p>
        </p:txBody>
      </p:sp>
      <p:pic>
        <p:nvPicPr>
          <p:cNvPr id="4" name="Content Placeholder 3">
            <a:extLst>
              <a:ext uri="{FF2B5EF4-FFF2-40B4-BE49-F238E27FC236}">
                <a16:creationId xmlns:a16="http://schemas.microsoft.com/office/drawing/2014/main" id="{88967D1A-E0A0-457E-A1B2-8F77977A5A0F}"/>
              </a:ext>
            </a:extLst>
          </p:cNvPr>
          <p:cNvPicPr>
            <a:picLocks/>
          </p:cNvPicPr>
          <p:nvPr/>
        </p:nvPicPr>
        <p:blipFill>
          <a:blip r:embed="rId3"/>
          <a:stretch>
            <a:fillRect/>
          </a:stretch>
        </p:blipFill>
        <p:spPr>
          <a:xfrm>
            <a:off x="642258" y="2085703"/>
            <a:ext cx="5014685" cy="2699654"/>
          </a:xfrm>
          <a:prstGeom prst="rect">
            <a:avLst/>
          </a:prstGeom>
        </p:spPr>
      </p:pic>
      <p:cxnSp>
        <p:nvCxnSpPr>
          <p:cNvPr id="13" name="Straight Connector 1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2A153076-7844-4FE8-A8C0-F083D8B4BDF5}"/>
              </a:ext>
            </a:extLst>
          </p:cNvPr>
          <p:cNvSpPr>
            <a:spLocks noGrp="1"/>
          </p:cNvSpPr>
          <p:nvPr>
            <p:ph idx="1"/>
          </p:nvPr>
        </p:nvSpPr>
        <p:spPr>
          <a:xfrm>
            <a:off x="5554618" y="2069738"/>
            <a:ext cx="6535782" cy="4153316"/>
          </a:xfrm>
        </p:spPr>
        <p:txBody>
          <a:bodyPr>
            <a:normAutofit fontScale="92500" lnSpcReduction="10000"/>
          </a:bodyPr>
          <a:lstStyle/>
          <a:p>
            <a:pPr>
              <a:buFont typeface="Wingdings" panose="05000000000000000000" pitchFamily="2" charset="2"/>
              <a:buChar char="§"/>
            </a:pPr>
            <a:r>
              <a:rPr lang="en-US" dirty="0"/>
              <a:t>The median trip duration for the original dataset (4M rows) and the sampled dataset used for modeling = ~664 seconds. </a:t>
            </a:r>
          </a:p>
          <a:p>
            <a:pPr lvl="0">
              <a:buFont typeface="Wingdings" panose="05000000000000000000" pitchFamily="2" charset="2"/>
              <a:buChar char="§"/>
            </a:pPr>
            <a:r>
              <a:rPr lang="en-US" dirty="0"/>
              <a:t> MAPE = 26.38%</a:t>
            </a:r>
          </a:p>
          <a:p>
            <a:pPr lvl="0">
              <a:buFont typeface="Wingdings" panose="05000000000000000000" pitchFamily="2" charset="2"/>
              <a:buChar char="§"/>
            </a:pPr>
            <a:r>
              <a:rPr lang="en-US" dirty="0"/>
              <a:t> That is, our model predicts the trip duration as 178.24 seconds more or less than the actual on an average. </a:t>
            </a:r>
          </a:p>
          <a:p>
            <a:pPr lvl="0">
              <a:buFont typeface="Wingdings" panose="05000000000000000000" pitchFamily="2" charset="2"/>
              <a:buChar char="§"/>
            </a:pPr>
            <a:r>
              <a:rPr lang="en-US" dirty="0"/>
              <a:t> Which is just 3 minutes and given a busy city like NYC, that’s a very good performance.</a:t>
            </a:r>
          </a:p>
          <a:p>
            <a:pPr lvl="0">
              <a:buFont typeface="Wingdings" panose="05000000000000000000" pitchFamily="2" charset="2"/>
              <a:buChar char="§"/>
            </a:pPr>
            <a:r>
              <a:rPr lang="en-US" dirty="0"/>
              <a:t> And we have used only the variables that were readily available to us.</a:t>
            </a:r>
          </a:p>
          <a:p>
            <a:pPr lvl="0">
              <a:buFont typeface="Wingdings" panose="05000000000000000000" pitchFamily="2" charset="2"/>
              <a:buChar char="§"/>
            </a:pPr>
            <a:r>
              <a:rPr lang="en-US" dirty="0"/>
              <a:t> Shorter duration trips predicted better than longer durations.</a:t>
            </a:r>
          </a:p>
          <a:p>
            <a:pPr lvl="0">
              <a:buFont typeface="Wingdings" panose="05000000000000000000" pitchFamily="2" charset="2"/>
              <a:buChar char="§"/>
            </a:pPr>
            <a:r>
              <a:rPr lang="en-US" dirty="0"/>
              <a:t> Note: 97% of the trips are &lt;= 40 minutes (2400  seconds)</a:t>
            </a:r>
          </a:p>
          <a:p>
            <a:r>
              <a:rPr lang="en-US" dirty="0"/>
              <a:t> </a:t>
            </a:r>
          </a:p>
          <a:p>
            <a:pPr>
              <a:buFont typeface="Wingdings" panose="05000000000000000000" pitchFamily="2" charset="2"/>
              <a:buChar char="§"/>
            </a:pPr>
            <a:endParaRPr lang="en-US" dirty="0"/>
          </a:p>
        </p:txBody>
      </p:sp>
      <p:sp>
        <p:nvSpPr>
          <p:cNvPr id="15" name="Rectangle 14">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TextBox 4">
            <a:extLst>
              <a:ext uri="{FF2B5EF4-FFF2-40B4-BE49-F238E27FC236}">
                <a16:creationId xmlns:a16="http://schemas.microsoft.com/office/drawing/2014/main" id="{A0A3F541-9680-4829-A2FE-CD70651007F0}"/>
              </a:ext>
            </a:extLst>
          </p:cNvPr>
          <p:cNvSpPr txBox="1"/>
          <p:nvPr/>
        </p:nvSpPr>
        <p:spPr>
          <a:xfrm>
            <a:off x="642258" y="4916079"/>
            <a:ext cx="4013200" cy="1200329"/>
          </a:xfrm>
          <a:prstGeom prst="rect">
            <a:avLst/>
          </a:prstGeom>
          <a:noFill/>
        </p:spPr>
        <p:txBody>
          <a:bodyPr wrap="square" rtlCol="0">
            <a:spAutoFit/>
          </a:bodyPr>
          <a:lstStyle/>
          <a:p>
            <a:r>
              <a:rPr lang="en-US" dirty="0"/>
              <a:t>Absolute residuals are in seconds and groupings are trip duration bins in minutes. </a:t>
            </a:r>
          </a:p>
          <a:p>
            <a:endParaRPr lang="en-US" dirty="0"/>
          </a:p>
        </p:txBody>
      </p:sp>
    </p:spTree>
    <p:extLst>
      <p:ext uri="{BB962C8B-B14F-4D97-AF65-F5344CB8AC3E}">
        <p14:creationId xmlns:p14="http://schemas.microsoft.com/office/powerpoint/2010/main" val="2835049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623BB-A1CE-4F51-9873-B9EDA6FBCDE9}"/>
              </a:ext>
            </a:extLst>
          </p:cNvPr>
          <p:cNvSpPr>
            <a:spLocks noGrp="1"/>
          </p:cNvSpPr>
          <p:nvPr>
            <p:ph type="title"/>
          </p:nvPr>
        </p:nvSpPr>
        <p:spPr/>
        <p:txBody>
          <a:bodyPr/>
          <a:lstStyle/>
          <a:p>
            <a:r>
              <a:rPr lang="en-US" dirty="0"/>
              <a:t>Important Predictors</a:t>
            </a:r>
          </a:p>
        </p:txBody>
      </p:sp>
      <p:sp>
        <p:nvSpPr>
          <p:cNvPr id="3" name="Content Placeholder 2">
            <a:extLst>
              <a:ext uri="{FF2B5EF4-FFF2-40B4-BE49-F238E27FC236}">
                <a16:creationId xmlns:a16="http://schemas.microsoft.com/office/drawing/2014/main" id="{B9C6939B-5963-452B-94AA-5AE3A91C1036}"/>
              </a:ext>
            </a:extLst>
          </p:cNvPr>
          <p:cNvSpPr>
            <a:spLocks noGrp="1"/>
          </p:cNvSpPr>
          <p:nvPr>
            <p:ph idx="1"/>
          </p:nvPr>
        </p:nvSpPr>
        <p:spPr/>
        <p:txBody>
          <a:bodyPr/>
          <a:lstStyle/>
          <a:p>
            <a:pPr lvl="0">
              <a:buFont typeface="Wingdings" panose="05000000000000000000" pitchFamily="2" charset="2"/>
              <a:buChar char="v"/>
            </a:pPr>
            <a:r>
              <a:rPr lang="en-US" dirty="0"/>
              <a:t>hour of the day</a:t>
            </a:r>
          </a:p>
          <a:p>
            <a:pPr lvl="0">
              <a:buFont typeface="Wingdings" panose="05000000000000000000" pitchFamily="2" charset="2"/>
              <a:buChar char="v"/>
            </a:pPr>
            <a:r>
              <a:rPr lang="en-US" dirty="0"/>
              <a:t>weekday</a:t>
            </a:r>
          </a:p>
          <a:p>
            <a:pPr lvl="0">
              <a:buFont typeface="Wingdings" panose="05000000000000000000" pitchFamily="2" charset="2"/>
              <a:buChar char="v"/>
            </a:pPr>
            <a:r>
              <a:rPr lang="en-US" dirty="0"/>
              <a:t>pickup and dropoff Lat Lon</a:t>
            </a:r>
          </a:p>
          <a:p>
            <a:pPr lvl="0">
              <a:buFont typeface="Wingdings" panose="05000000000000000000" pitchFamily="2" charset="2"/>
              <a:buChar char="v"/>
            </a:pPr>
            <a:r>
              <a:rPr lang="en-US" dirty="0"/>
              <a:t>bearing (trip direction)</a:t>
            </a:r>
          </a:p>
          <a:p>
            <a:pPr lvl="0">
              <a:buFont typeface="Wingdings" panose="05000000000000000000" pitchFamily="2" charset="2"/>
              <a:buChar char="v"/>
            </a:pPr>
            <a:r>
              <a:rPr lang="en-US" dirty="0"/>
              <a:t>even the day of the month and pickup and dropoff zone clusters seem to have some importance in the predictions.</a:t>
            </a:r>
          </a:p>
          <a:p>
            <a:endParaRPr lang="en-US" dirty="0"/>
          </a:p>
        </p:txBody>
      </p:sp>
    </p:spTree>
    <p:extLst>
      <p:ext uri="{BB962C8B-B14F-4D97-AF65-F5344CB8AC3E}">
        <p14:creationId xmlns:p14="http://schemas.microsoft.com/office/powerpoint/2010/main" val="2441216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2EF83-EF9C-42B3-8683-3657A426B521}"/>
              </a:ext>
            </a:extLst>
          </p:cNvPr>
          <p:cNvSpPr>
            <a:spLocks noGrp="1"/>
          </p:cNvSpPr>
          <p:nvPr>
            <p:ph type="title"/>
          </p:nvPr>
        </p:nvSpPr>
        <p:spPr>
          <a:xfrm>
            <a:off x="1066800" y="614679"/>
            <a:ext cx="10058400" cy="748454"/>
          </a:xfrm>
        </p:spPr>
        <p:txBody>
          <a:bodyPr>
            <a:normAutofit/>
          </a:bodyPr>
          <a:lstStyle/>
          <a:p>
            <a:r>
              <a:rPr lang="en-US" sz="4000" dirty="0"/>
              <a:t>Checking which areas had low and high errors</a:t>
            </a:r>
          </a:p>
        </p:txBody>
      </p:sp>
      <p:pic>
        <p:nvPicPr>
          <p:cNvPr id="4" name="Content Placeholder 3">
            <a:extLst>
              <a:ext uri="{FF2B5EF4-FFF2-40B4-BE49-F238E27FC236}">
                <a16:creationId xmlns:a16="http://schemas.microsoft.com/office/drawing/2014/main" id="{96D5F184-0806-40C1-BB55-ADDFE13FF513}"/>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1363132"/>
            <a:ext cx="10403840" cy="5068147"/>
          </a:xfrm>
          <a:prstGeom prst="rect">
            <a:avLst/>
          </a:prstGeom>
          <a:noFill/>
          <a:ln>
            <a:noFill/>
          </a:ln>
        </p:spPr>
      </p:pic>
      <p:sp>
        <p:nvSpPr>
          <p:cNvPr id="5" name="TextBox 4">
            <a:extLst>
              <a:ext uri="{FF2B5EF4-FFF2-40B4-BE49-F238E27FC236}">
                <a16:creationId xmlns:a16="http://schemas.microsoft.com/office/drawing/2014/main" id="{7E7BF8EC-E826-43D6-8FEB-5B299FF40A13}"/>
              </a:ext>
            </a:extLst>
          </p:cNvPr>
          <p:cNvSpPr txBox="1"/>
          <p:nvPr/>
        </p:nvSpPr>
        <p:spPr>
          <a:xfrm>
            <a:off x="1066800" y="1696719"/>
            <a:ext cx="2987040" cy="307777"/>
          </a:xfrm>
          <a:prstGeom prst="rect">
            <a:avLst/>
          </a:prstGeom>
          <a:noFill/>
        </p:spPr>
        <p:txBody>
          <a:bodyPr wrap="square" rtlCol="0">
            <a:spAutoFit/>
          </a:bodyPr>
          <a:lstStyle/>
          <a:p>
            <a:r>
              <a:rPr lang="en-US" sz="1400" dirty="0"/>
              <a:t>Residuals = (true - predicted) minutes</a:t>
            </a:r>
          </a:p>
        </p:txBody>
      </p:sp>
      <p:sp>
        <p:nvSpPr>
          <p:cNvPr id="6" name="TextBox 5">
            <a:extLst>
              <a:ext uri="{FF2B5EF4-FFF2-40B4-BE49-F238E27FC236}">
                <a16:creationId xmlns:a16="http://schemas.microsoft.com/office/drawing/2014/main" id="{767E0F3B-AF26-40A5-9791-3104D074A9ED}"/>
              </a:ext>
            </a:extLst>
          </p:cNvPr>
          <p:cNvSpPr txBox="1"/>
          <p:nvPr/>
        </p:nvSpPr>
        <p:spPr>
          <a:xfrm>
            <a:off x="6268720" y="1696719"/>
            <a:ext cx="2987040" cy="307777"/>
          </a:xfrm>
          <a:prstGeom prst="rect">
            <a:avLst/>
          </a:prstGeom>
          <a:noFill/>
        </p:spPr>
        <p:txBody>
          <a:bodyPr wrap="square" rtlCol="0">
            <a:spAutoFit/>
          </a:bodyPr>
          <a:lstStyle/>
          <a:p>
            <a:r>
              <a:rPr lang="en-US" sz="1400" dirty="0"/>
              <a:t>Residuals = (true - predicted) minutes</a:t>
            </a:r>
          </a:p>
        </p:txBody>
      </p:sp>
    </p:spTree>
    <p:extLst>
      <p:ext uri="{BB962C8B-B14F-4D97-AF65-F5344CB8AC3E}">
        <p14:creationId xmlns:p14="http://schemas.microsoft.com/office/powerpoint/2010/main" val="3846372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A7BF04-A960-497F-8555-2F698A33B2B5}"/>
              </a:ext>
            </a:extLst>
          </p:cNvPr>
          <p:cNvSpPr>
            <a:spLocks noGrp="1"/>
          </p:cNvSpPr>
          <p:nvPr>
            <p:ph type="title"/>
          </p:nvPr>
        </p:nvSpPr>
        <p:spPr>
          <a:xfrm>
            <a:off x="7830094" y="523684"/>
            <a:ext cx="3690257" cy="1450757"/>
          </a:xfrm>
        </p:spPr>
        <p:txBody>
          <a:bodyPr>
            <a:normAutofit/>
          </a:bodyPr>
          <a:lstStyle/>
          <a:p>
            <a:r>
              <a:rPr lang="en-US" sz="3400" dirty="0"/>
              <a:t>Distribution of residuals categorized by NYC boroughs</a:t>
            </a:r>
          </a:p>
        </p:txBody>
      </p:sp>
      <p:pic>
        <p:nvPicPr>
          <p:cNvPr id="4" name="Content Placeholder 3" descr="A screenshot of a cell phone&#10;&#10;Description automatically generated">
            <a:extLst>
              <a:ext uri="{FF2B5EF4-FFF2-40B4-BE49-F238E27FC236}">
                <a16:creationId xmlns:a16="http://schemas.microsoft.com/office/drawing/2014/main" id="{DAEEA477-6223-42CB-95BA-EE215502808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07425" y="1733692"/>
            <a:ext cx="7584718" cy="4047541"/>
          </a:xfrm>
          <a:prstGeom prst="rect">
            <a:avLst/>
          </a:prstGeom>
        </p:spPr>
      </p:pic>
      <p:cxnSp>
        <p:nvCxnSpPr>
          <p:cNvPr id="13" name="Straight Connector 1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60E9B77-14AA-4DB2-9CE4-6B868E89DAC1}"/>
              </a:ext>
            </a:extLst>
          </p:cNvPr>
          <p:cNvSpPr>
            <a:spLocks noGrp="1"/>
          </p:cNvSpPr>
          <p:nvPr>
            <p:ph idx="1"/>
          </p:nvPr>
        </p:nvSpPr>
        <p:spPr>
          <a:xfrm>
            <a:off x="7859485" y="2198914"/>
            <a:ext cx="3690257" cy="3670180"/>
          </a:xfrm>
        </p:spPr>
        <p:txBody>
          <a:bodyPr>
            <a:normAutofit fontScale="92500" lnSpcReduction="10000"/>
          </a:bodyPr>
          <a:lstStyle/>
          <a:p>
            <a:pPr>
              <a:buFont typeface="Wingdings" panose="05000000000000000000" pitchFamily="2" charset="2"/>
              <a:buChar char="§"/>
            </a:pPr>
            <a:r>
              <a:rPr lang="en-US" dirty="0"/>
              <a:t> Low errors for short to mid-range duration trips originating and ending in Manhattan.</a:t>
            </a:r>
          </a:p>
          <a:p>
            <a:pPr>
              <a:buFont typeface="Wingdings" panose="05000000000000000000" pitchFamily="2" charset="2"/>
              <a:buChar char="§"/>
            </a:pPr>
            <a:r>
              <a:rPr lang="en-US" dirty="0"/>
              <a:t> The median error in trip duration minutes is  -0.595.</a:t>
            </a:r>
          </a:p>
          <a:p>
            <a:pPr>
              <a:buFont typeface="Wingdings" panose="05000000000000000000" pitchFamily="2" charset="2"/>
              <a:buChar char="§"/>
            </a:pPr>
            <a:r>
              <a:rPr lang="en-US" dirty="0"/>
              <a:t> All important locations including the 5 boroughs (except Staten island) and the airports were predicted within -2 to +2 minutes error by the model. </a:t>
            </a:r>
          </a:p>
          <a:p>
            <a:pPr>
              <a:buFont typeface="Wingdings" panose="05000000000000000000" pitchFamily="2" charset="2"/>
              <a:buChar char="§"/>
            </a:pPr>
            <a:r>
              <a:rPr lang="en-US" dirty="0"/>
              <a:t> Other areas represented a small % of the data, so maybe the model treated them as extreme points.</a:t>
            </a:r>
          </a:p>
        </p:txBody>
      </p:sp>
      <p:sp>
        <p:nvSpPr>
          <p:cNvPr id="15" name="Rectangle 14">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850517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AFC53-A357-4389-8335-E80DE7363431}"/>
              </a:ext>
            </a:extLst>
          </p:cNvPr>
          <p:cNvSpPr>
            <a:spLocks noGrp="1"/>
          </p:cNvSpPr>
          <p:nvPr>
            <p:ph type="title"/>
          </p:nvPr>
        </p:nvSpPr>
        <p:spPr>
          <a:xfrm>
            <a:off x="1066800" y="614679"/>
            <a:ext cx="10058400" cy="748454"/>
          </a:xfrm>
        </p:spPr>
        <p:txBody>
          <a:bodyPr/>
          <a:lstStyle/>
          <a:p>
            <a:r>
              <a:rPr lang="en-US" dirty="0"/>
              <a:t>Future Work</a:t>
            </a:r>
          </a:p>
        </p:txBody>
      </p:sp>
      <p:sp>
        <p:nvSpPr>
          <p:cNvPr id="3" name="Content Placeholder 2">
            <a:extLst>
              <a:ext uri="{FF2B5EF4-FFF2-40B4-BE49-F238E27FC236}">
                <a16:creationId xmlns:a16="http://schemas.microsoft.com/office/drawing/2014/main" id="{0FF3E48A-90A0-467B-9208-1162459D0407}"/>
              </a:ext>
            </a:extLst>
          </p:cNvPr>
          <p:cNvSpPr>
            <a:spLocks noGrp="1"/>
          </p:cNvSpPr>
          <p:nvPr>
            <p:ph idx="1"/>
          </p:nvPr>
        </p:nvSpPr>
        <p:spPr/>
        <p:txBody>
          <a:bodyPr>
            <a:normAutofit fontScale="92500" lnSpcReduction="10000"/>
          </a:bodyPr>
          <a:lstStyle/>
          <a:p>
            <a:pPr lvl="0">
              <a:buFont typeface="Wingdings" panose="05000000000000000000" pitchFamily="2" charset="2"/>
              <a:buChar char="q"/>
            </a:pPr>
            <a:r>
              <a:rPr lang="en-US" dirty="0"/>
              <a:t>Add zone to zone average speed as a feature. The average zone to zone speed can be added as a variable along with the distance variable.</a:t>
            </a:r>
          </a:p>
          <a:p>
            <a:pPr lvl="0">
              <a:buFont typeface="Wingdings" panose="05000000000000000000" pitchFamily="2" charset="2"/>
              <a:buChar char="q"/>
            </a:pPr>
            <a:r>
              <a:rPr lang="en-US" dirty="0"/>
              <a:t>Add weather variables to see the effect of extreme weather events and temperature on the trip duration. The extreme events like heavy snow in Jan of 2016 were observed to cause the taxi trips to decline significantly but otherwise no significant effect of the weather in general on the taxi trip duration was seen. Temperature can have some effect, for example high temperatures in summer or very low temperatures in winter can cause people to use more taxis, thus increasing the traffic overall.</a:t>
            </a:r>
          </a:p>
          <a:p>
            <a:pPr lvl="0">
              <a:buFont typeface="Wingdings" panose="05000000000000000000" pitchFamily="2" charset="2"/>
              <a:buChar char="q"/>
            </a:pPr>
            <a:r>
              <a:rPr lang="en-US" dirty="0"/>
              <a:t>Implement deep learning models to fit the data. Since we have millions of taxi trips in this data, we can use multi-layer neural network models to see if they give better performance compared to the other models tried in this notebook.</a:t>
            </a:r>
          </a:p>
          <a:p>
            <a:pPr lvl="0">
              <a:buFont typeface="Wingdings" panose="05000000000000000000" pitchFamily="2" charset="2"/>
              <a:buChar char="q"/>
            </a:pPr>
            <a:r>
              <a:rPr lang="en-US" dirty="0"/>
              <a:t>Build a simple web application such that a user can input the pickup and dropoff latitudes and longitudes and the web app will throw out the estimated trip duration (using our best model).</a:t>
            </a:r>
          </a:p>
          <a:p>
            <a:endParaRPr lang="en-US" dirty="0"/>
          </a:p>
        </p:txBody>
      </p:sp>
    </p:spTree>
    <p:extLst>
      <p:ext uri="{BB962C8B-B14F-4D97-AF65-F5344CB8AC3E}">
        <p14:creationId xmlns:p14="http://schemas.microsoft.com/office/powerpoint/2010/main" val="425153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1CDA7-B5CD-4764-AF0C-C063178342B1}"/>
              </a:ext>
            </a:extLst>
          </p:cNvPr>
          <p:cNvSpPr>
            <a:spLocks noGrp="1"/>
          </p:cNvSpPr>
          <p:nvPr>
            <p:ph type="title"/>
          </p:nvPr>
        </p:nvSpPr>
        <p:spPr/>
        <p:txBody>
          <a:bodyPr/>
          <a:lstStyle/>
          <a:p>
            <a:r>
              <a:rPr lang="en-US" dirty="0"/>
              <a:t>Future work (Contd.)</a:t>
            </a:r>
          </a:p>
        </p:txBody>
      </p:sp>
      <p:sp>
        <p:nvSpPr>
          <p:cNvPr id="3" name="Content Placeholder 2">
            <a:extLst>
              <a:ext uri="{FF2B5EF4-FFF2-40B4-BE49-F238E27FC236}">
                <a16:creationId xmlns:a16="http://schemas.microsoft.com/office/drawing/2014/main" id="{4839AC27-E210-4857-8375-B2D8492DB0CD}"/>
              </a:ext>
            </a:extLst>
          </p:cNvPr>
          <p:cNvSpPr>
            <a:spLocks noGrp="1"/>
          </p:cNvSpPr>
          <p:nvPr>
            <p:ph idx="1"/>
          </p:nvPr>
        </p:nvSpPr>
        <p:spPr/>
        <p:txBody>
          <a:bodyPr/>
          <a:lstStyle/>
          <a:p>
            <a:r>
              <a:rPr lang="en-US" dirty="0"/>
              <a:t>(From EDA notebook) </a:t>
            </a:r>
            <a:r>
              <a:rPr lang="en-US" b="1" dirty="0"/>
              <a:t>Potential additions to the EDA and general visualizations:</a:t>
            </a:r>
            <a:endParaRPr lang="en-US" dirty="0"/>
          </a:p>
          <a:p>
            <a:pPr lvl="0">
              <a:buFont typeface="Wingdings" panose="05000000000000000000" pitchFamily="2" charset="2"/>
              <a:buChar char="q"/>
            </a:pPr>
            <a:r>
              <a:rPr lang="en-US" sz="1800" dirty="0"/>
              <a:t>Subway stations and other important information about potential busy areas can be added into the data and traffic trend around these areas of interest can be verified.</a:t>
            </a:r>
          </a:p>
          <a:p>
            <a:pPr lvl="0">
              <a:buFont typeface="Wingdings" panose="05000000000000000000" pitchFamily="2" charset="2"/>
              <a:buChar char="q"/>
            </a:pPr>
            <a:r>
              <a:rPr lang="en-US" sz="1800" dirty="0"/>
              <a:t>A network graph to check how the zones are connected to each other based on the pickups and dropoffs.</a:t>
            </a:r>
          </a:p>
          <a:p>
            <a:pPr lvl="1"/>
            <a:r>
              <a:rPr lang="en-US" dirty="0"/>
              <a:t>Betweenness centrality can be added for each node in the graph.</a:t>
            </a:r>
          </a:p>
          <a:p>
            <a:pPr lvl="1"/>
            <a:r>
              <a:rPr lang="en-US" dirty="0"/>
              <a:t>Shortest path for any ride can be found and the nodes/edges through which the taxi has to pass to reach the destination</a:t>
            </a:r>
            <a:br>
              <a:rPr lang="en-US" dirty="0"/>
            </a:br>
            <a:r>
              <a:rPr lang="en-US" dirty="0"/>
              <a:t>can be determined. Then an average speed score can be assigned to that path based on the speed score of each edge the taxi is traversing through. This can be used as a new feature.</a:t>
            </a:r>
          </a:p>
          <a:p>
            <a:endParaRPr lang="en-US" dirty="0"/>
          </a:p>
        </p:txBody>
      </p:sp>
    </p:spTree>
    <p:extLst>
      <p:ext uri="{BB962C8B-B14F-4D97-AF65-F5344CB8AC3E}">
        <p14:creationId xmlns:p14="http://schemas.microsoft.com/office/powerpoint/2010/main" val="850810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5" name="Straight Connector 24">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EB1836F0-F9E0-4D93-9BDD-7EEC6EA05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14377-3568-4829-BEC4-E76486EFA89A}"/>
              </a:ext>
            </a:extLst>
          </p:cNvPr>
          <p:cNvSpPr>
            <a:spLocks noGrp="1"/>
          </p:cNvSpPr>
          <p:nvPr>
            <p:ph type="title"/>
          </p:nvPr>
        </p:nvSpPr>
        <p:spPr>
          <a:xfrm>
            <a:off x="5289754" y="639097"/>
            <a:ext cx="6253317" cy="3686015"/>
          </a:xfrm>
        </p:spPr>
        <p:txBody>
          <a:bodyPr vert="horz" lIns="91440" tIns="45720" rIns="91440" bIns="45720" rtlCol="0" anchor="b">
            <a:normAutofit/>
          </a:bodyPr>
          <a:lstStyle/>
          <a:p>
            <a:r>
              <a:rPr lang="en-US" sz="8000">
                <a:solidFill>
                  <a:schemeClr val="tx1">
                    <a:lumMod val="85000"/>
                    <a:lumOff val="15000"/>
                  </a:schemeClr>
                </a:solidFill>
              </a:rPr>
              <a:t>THANKS</a:t>
            </a:r>
          </a:p>
        </p:txBody>
      </p:sp>
      <p:sp>
        <p:nvSpPr>
          <p:cNvPr id="3" name="Content Placeholder 2">
            <a:extLst>
              <a:ext uri="{FF2B5EF4-FFF2-40B4-BE49-F238E27FC236}">
                <a16:creationId xmlns:a16="http://schemas.microsoft.com/office/drawing/2014/main" id="{4021B39E-4617-453D-A47A-20F2670324D9}"/>
              </a:ext>
            </a:extLst>
          </p:cNvPr>
          <p:cNvSpPr>
            <a:spLocks noGrp="1"/>
          </p:cNvSpPr>
          <p:nvPr>
            <p:ph idx="1"/>
          </p:nvPr>
        </p:nvSpPr>
        <p:spPr>
          <a:xfrm>
            <a:off x="5289753" y="4455621"/>
            <a:ext cx="6269347" cy="1238616"/>
          </a:xfrm>
        </p:spPr>
        <p:txBody>
          <a:bodyPr vert="horz" lIns="91440" tIns="45720" rIns="91440" bIns="45720" rtlCol="0">
            <a:normAutofit/>
          </a:bodyPr>
          <a:lstStyle/>
          <a:p>
            <a:pPr marL="0" indent="0">
              <a:buNone/>
            </a:pPr>
            <a:r>
              <a:rPr lang="en-US" sz="2400" cap="all" spc="200">
                <a:solidFill>
                  <a:schemeClr val="tx1">
                    <a:lumMod val="85000"/>
                    <a:lumOff val="15000"/>
                  </a:schemeClr>
                </a:solidFill>
                <a:latin typeface="+mj-lt"/>
                <a:hlinkClick r:id="rId2"/>
              </a:rPr>
              <a:t>Github Link</a:t>
            </a:r>
            <a:endParaRPr lang="en-US" sz="2400" cap="all" spc="200">
              <a:solidFill>
                <a:schemeClr val="tx1">
                  <a:lumMod val="85000"/>
                  <a:lumOff val="15000"/>
                </a:schemeClr>
              </a:solidFill>
              <a:latin typeface="+mj-lt"/>
            </a:endParaRPr>
          </a:p>
        </p:txBody>
      </p:sp>
      <p:pic>
        <p:nvPicPr>
          <p:cNvPr id="7" name="Graphic 6" descr="Smiling Face with No Fill">
            <a:extLst>
              <a:ext uri="{FF2B5EF4-FFF2-40B4-BE49-F238E27FC236}">
                <a16:creationId xmlns:a16="http://schemas.microsoft.com/office/drawing/2014/main" id="{7F230225-FA6F-4A0B-A829-C72C700663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3999" y="1163529"/>
            <a:ext cx="4001315" cy="4001315"/>
          </a:xfrm>
          <a:prstGeom prst="rect">
            <a:avLst/>
          </a:prstGeom>
        </p:spPr>
      </p:pic>
      <p:cxnSp>
        <p:nvCxnSpPr>
          <p:cNvPr id="29" name="Straight Connector 28">
            <a:extLst>
              <a:ext uri="{FF2B5EF4-FFF2-40B4-BE49-F238E27FC236}">
                <a16:creationId xmlns:a16="http://schemas.microsoft.com/office/drawing/2014/main" id="{7A49EFD3-A806-4D59-99F1-AA9AFAE4EF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D2F28D1-82F9-40FE-935C-85ECF7660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a:extLst>
              <a:ext uri="{FF2B5EF4-FFF2-40B4-BE49-F238E27FC236}">
                <a16:creationId xmlns:a16="http://schemas.microsoft.com/office/drawing/2014/main" id="{4B670E93-2F53-48FC-AB6C-E99E22D17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4420446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1841</Words>
  <Application>Microsoft Office PowerPoint</Application>
  <PresentationFormat>Widescreen</PresentationFormat>
  <Paragraphs>174</Paragraphs>
  <Slides>38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Cambria Math</vt:lpstr>
      <vt:lpstr>Wingdings</vt:lpstr>
      <vt:lpstr>Retrospect</vt:lpstr>
      <vt:lpstr>NYC TAXI TRIP DURATION PREDICTION (YELLOW TAXI TRIPS, 2016)</vt:lpstr>
      <vt:lpstr>Topics Covered</vt:lpstr>
      <vt:lpstr>Goal </vt:lpstr>
      <vt:lpstr>PowerPoint Presentation</vt:lpstr>
      <vt:lpstr>NYC taxi trip Data</vt:lpstr>
      <vt:lpstr>Data fields </vt:lpstr>
      <vt:lpstr>Data Cleaning </vt:lpstr>
      <vt:lpstr>Trip duration statistics </vt:lpstr>
      <vt:lpstr>Trips on latitude vs longitude map</vt:lpstr>
      <vt:lpstr>Taxi Trips Count and Mean Trip Duration</vt:lpstr>
      <vt:lpstr>Average Weekly Taxi Trip Duration</vt:lpstr>
      <vt:lpstr>Distance vs Trip Duration</vt:lpstr>
      <vt:lpstr>Count of Trips within each Taxi Zone</vt:lpstr>
      <vt:lpstr>Zone-wise Mean Trip Duration</vt:lpstr>
      <vt:lpstr>Trip directions for all boroughs except Manhattan</vt:lpstr>
      <vt:lpstr>Trip direction of all boroughs categorized by speed_mph</vt:lpstr>
      <vt:lpstr>Clustering similar zones </vt:lpstr>
      <vt:lpstr>Machine Learning models</vt:lpstr>
      <vt:lpstr>Data to Fit the Models</vt:lpstr>
      <vt:lpstr>Error Metrics</vt:lpstr>
      <vt:lpstr>Baseline to compare all models with</vt:lpstr>
      <vt:lpstr>Elastic Net Linear Regression</vt:lpstr>
      <vt:lpstr>Elastic Net Linear Regression Plots</vt:lpstr>
      <vt:lpstr>Random Forest</vt:lpstr>
      <vt:lpstr>Random Forest Plots</vt:lpstr>
      <vt:lpstr>XGBoost</vt:lpstr>
      <vt:lpstr>XGBoost Plots</vt:lpstr>
      <vt:lpstr>XGBoost Feature Importance</vt:lpstr>
      <vt:lpstr>XGBoost Feature Importance Using Permutation </vt:lpstr>
      <vt:lpstr>Trained XGBoost model on the entire dataset (~4M taxi rides)</vt:lpstr>
      <vt:lpstr>Comparing the Models</vt:lpstr>
      <vt:lpstr>What the errors mean?</vt:lpstr>
      <vt:lpstr>Important Predictors</vt:lpstr>
      <vt:lpstr>Checking which areas had low and high errors</vt:lpstr>
      <vt:lpstr>Distribution of residuals categorized by NYC boroughs</vt:lpstr>
      <vt:lpstr>Future Work</vt:lpstr>
      <vt:lpstr>Future work (Contd.)</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Taxi Trip duration prediction (yellow taxi trips, 2016)</dc:title>
  <dc:creator>Prathamesh Pawar</dc:creator>
  <cp:lastModifiedBy>Prathamesh Pawar</cp:lastModifiedBy>
  <cp:revision>6</cp:revision>
  <dcterms:created xsi:type="dcterms:W3CDTF">2020-03-18T07:26:03Z</dcterms:created>
  <dcterms:modified xsi:type="dcterms:W3CDTF">2020-03-18T07:34:22Z</dcterms:modified>
</cp:coreProperties>
</file>